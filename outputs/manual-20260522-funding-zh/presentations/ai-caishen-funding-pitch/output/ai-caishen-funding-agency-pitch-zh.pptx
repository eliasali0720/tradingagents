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338"/>
  </p:normalViewPr>
  <p:slideViewPr>
    <p:cSldViewPr snapToGrid="0">
      <p:cViewPr>
        <p:scale>
          <a:sx n="151" d="100"/>
          <a:sy n="151" d="100"/>
        </p:scale>
        <p:origin x="1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452CB4-336F-47D8-AE43-53D95147D4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C9B2516-0C0D-4F43-974B-12536ECFFA1A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0972800" cy="5791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07F597-62F2-4A0A-B4EC-75D0FBCFD5D0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171450" cy="5791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563263-2CEF-4E14-91DF-144012AF9E6B}"/>
              </a:ext>
            </a:extLst>
          </p:cNvPr>
          <p:cNvSpPr>
            <a:spLocks noGrp="1"/>
          </p:cNvSpPr>
          <p:nvPr/>
        </p:nvSpPr>
        <p:spPr>
          <a:xfrm>
            <a:off x="1200150" y="1200150"/>
            <a:ext cx="5334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55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AI财神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9D034-BC6F-4ACC-ACE9-5163E645CEF2}"/>
              </a:ext>
            </a:extLst>
          </p:cNvPr>
          <p:cNvSpPr>
            <a:spLocks noGrp="1"/>
          </p:cNvSpPr>
          <p:nvPr/>
        </p:nvSpPr>
        <p:spPr>
          <a:xfrm>
            <a:off x="1257300" y="2171700"/>
            <a:ext cx="609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智能投研 · 透明风控 · 资金增值目标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BF3B5-F7D2-4E5A-B2A1-7561C2A43FF3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6191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面向资金机构的 AI 交易治理平台：用多智能体研究、可审计推理、风险闸门和券商执行连接资金、策略与报告。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D6224-0618-4FBD-82F6-0889AC078944}"/>
              </a:ext>
            </a:extLst>
          </p:cNvPr>
          <p:cNvSpPr>
            <a:spLocks noGrp="1"/>
          </p:cNvSpPr>
          <p:nvPr/>
        </p:nvSpPr>
        <p:spPr>
          <a:xfrm>
            <a:off x="8286750" y="1143000"/>
            <a:ext cx="2095500" cy="20955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5C7CA-C2A7-4DAE-A302-2676DE1D1F89}"/>
              </a:ext>
            </a:extLst>
          </p:cNvPr>
          <p:cNvSpPr>
            <a:spLocks noGrp="1"/>
          </p:cNvSpPr>
          <p:nvPr/>
        </p:nvSpPr>
        <p:spPr>
          <a:xfrm>
            <a:off x="8629650" y="1581150"/>
            <a:ext cx="14097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</a:t>
            </a:r>
          </a:p>
          <a:p>
            <a:pPr algn="ctr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财神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01CA1D-9536-4218-BF8D-D9EC559A11D3}"/>
              </a:ext>
            </a:extLst>
          </p:cNvPr>
          <p:cNvSpPr>
            <a:spLocks noGrp="1"/>
          </p:cNvSpPr>
          <p:nvPr/>
        </p:nvSpPr>
        <p:spPr>
          <a:xfrm>
            <a:off x="8572500" y="2381250"/>
            <a:ext cx="152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DCEC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CECE6"/>
                </a:solidFill>
                <a:latin typeface="Aptos"/>
                <a:ea typeface="Aptos"/>
                <a:cs typeface="Aptos"/>
              </a:rPr>
              <a:t>Capital Intelligence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223AAC-6CA7-4D76-BA5D-F2E209D9D8D1}"/>
              </a:ext>
            </a:extLst>
          </p:cNvPr>
          <p:cNvSpPr>
            <a:spLocks noGrp="1"/>
          </p:cNvSpPr>
          <p:nvPr/>
        </p:nvSpPr>
        <p:spPr>
          <a:xfrm>
            <a:off x="1257300" y="4191000"/>
            <a:ext cx="2724150" cy="1066800"/>
          </a:xfrm>
          <a:prstGeom prst="rect">
            <a:avLst/>
          </a:prstGeom>
          <a:solidFill>
            <a:srgbClr val="F7F4EC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A025CE-3B3E-4D3D-8AEA-492D09D48A2A}"/>
              </a:ext>
            </a:extLst>
          </p:cNvPr>
          <p:cNvSpPr>
            <a:spLocks noGrp="1"/>
          </p:cNvSpPr>
          <p:nvPr/>
        </p:nvSpPr>
        <p:spPr>
          <a:xfrm>
            <a:off x="1447800" y="44005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品牌定位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32111B-49C0-4801-8D70-4AAFB9AD7F5C}"/>
              </a:ext>
            </a:extLst>
          </p:cNvPr>
          <p:cNvSpPr>
            <a:spLocks noGrp="1"/>
          </p:cNvSpPr>
          <p:nvPr/>
        </p:nvSpPr>
        <p:spPr>
          <a:xfrm>
            <a:off x="1447800" y="4686300"/>
            <a:ext cx="2247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AI 驱动的资金增值与交易治理平台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C784DD-B8DB-49A1-8ECC-6629AFAD5620}"/>
              </a:ext>
            </a:extLst>
          </p:cNvPr>
          <p:cNvSpPr>
            <a:spLocks noGrp="1"/>
          </p:cNvSpPr>
          <p:nvPr/>
        </p:nvSpPr>
        <p:spPr>
          <a:xfrm>
            <a:off x="4400550" y="4191000"/>
            <a:ext cx="2724150" cy="1066800"/>
          </a:xfrm>
          <a:prstGeom prst="rect">
            <a:avLst/>
          </a:prstGeom>
          <a:solidFill>
            <a:srgbClr val="DCECE6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AD3E10-129C-4406-B818-FC03D93F978E}"/>
              </a:ext>
            </a:extLst>
          </p:cNvPr>
          <p:cNvSpPr>
            <a:spLocks noGrp="1"/>
          </p:cNvSpPr>
          <p:nvPr/>
        </p:nvSpPr>
        <p:spPr>
          <a:xfrm>
            <a:off x="4591050" y="44005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核心承诺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5F26E3-B701-4085-9219-8509972EA411}"/>
              </a:ext>
            </a:extLst>
          </p:cNvPr>
          <p:cNvSpPr>
            <a:spLocks noGrp="1"/>
          </p:cNvSpPr>
          <p:nvPr/>
        </p:nvSpPr>
        <p:spPr>
          <a:xfrm>
            <a:off x="4591050" y="4686300"/>
            <a:ext cx="2247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不做黑箱承诺；强调透明、风控与目标管理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20D5EA-8C8A-4BB6-AC5B-5D9CD41CD974}"/>
              </a:ext>
            </a:extLst>
          </p:cNvPr>
          <p:cNvSpPr>
            <a:spLocks noGrp="1"/>
          </p:cNvSpPr>
          <p:nvPr/>
        </p:nvSpPr>
        <p:spPr>
          <a:xfrm>
            <a:off x="7543800" y="4191000"/>
            <a:ext cx="2724150" cy="1066800"/>
          </a:xfrm>
          <a:prstGeom prst="rect">
            <a:avLst/>
          </a:prstGeom>
          <a:solidFill>
            <a:srgbClr val="F7F4EC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B74C56-5F10-43B5-A0EF-FE4969502D94}"/>
              </a:ext>
            </a:extLst>
          </p:cNvPr>
          <p:cNvSpPr>
            <a:spLocks noGrp="1"/>
          </p:cNvSpPr>
          <p:nvPr/>
        </p:nvSpPr>
        <p:spPr>
          <a:xfrm>
            <a:off x="7734300" y="44005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视觉语气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377AE-7993-494A-94C6-741FF48C3551}"/>
              </a:ext>
            </a:extLst>
          </p:cNvPr>
          <p:cNvSpPr>
            <a:spLocks noGrp="1"/>
          </p:cNvSpPr>
          <p:nvPr/>
        </p:nvSpPr>
        <p:spPr>
          <a:xfrm>
            <a:off x="7734300" y="4686300"/>
            <a:ext cx="2247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稳健、可信、面向机构，而不是投机营销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D07509-1FDD-45A6-AA34-ACCABE0FF780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38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品牌组件页 | AI财神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AF4E3A-E24F-4C02-9077-E11F7ED64E78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56449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30E5E25-7AB2-42A0-96EF-595F141477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3125C746-97A4-414B-8462-84927ACED217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E4C9A689-D76B-49CE-8D8D-F39DDC5607B1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资金机构推介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6AB6EE-F5E9-41AA-A64E-9B6ECB45841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6200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资金可以进入受治理的 AI 交易项目，而不是进入黑箱。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274109-D0BE-469B-AC7A-A2DA58C16C47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66675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AI财神将多智能体市场研究、透明推理、券商执行与风险控制封装为面向资金机构的管理型资本项目。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1EE47-99BD-4B82-A8AD-D9326EB755DD}"/>
              </a:ext>
            </a:extLst>
          </p:cNvPr>
          <p:cNvSpPr>
            <a:spLocks noGrp="1"/>
          </p:cNvSpPr>
          <p:nvPr/>
        </p:nvSpPr>
        <p:spPr>
          <a:xfrm>
            <a:off x="8648700" y="685800"/>
            <a:ext cx="2266950" cy="226695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D7E53C-BAD2-4A8B-8786-1FEC4B0E2D1D}"/>
              </a:ext>
            </a:extLst>
          </p:cNvPr>
          <p:cNvSpPr>
            <a:spLocks noGrp="1"/>
          </p:cNvSpPr>
          <p:nvPr/>
        </p:nvSpPr>
        <p:spPr>
          <a:xfrm>
            <a:off x="8858250" y="990600"/>
            <a:ext cx="18478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目标制</a:t>
            </a:r>
          </a:p>
          <a:p>
            <a:pPr algn="ctr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资金路径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FD467C-AE61-4DC8-96E6-D88118AABF2E}"/>
              </a:ext>
            </a:extLst>
          </p:cNvPr>
          <p:cNvSpPr>
            <a:spLocks noGrp="1"/>
          </p:cNvSpPr>
          <p:nvPr/>
        </p:nvSpPr>
        <p:spPr>
          <a:xfrm>
            <a:off x="9010650" y="1847850"/>
            <a:ext cx="1543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88" b="0">
                <a:solidFill>
                  <a:srgbClr val="E8F5E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E8F5EF"/>
                </a:solidFill>
                <a:latin typeface="Aptos"/>
                <a:ea typeface="Aptos"/>
                <a:cs typeface="Aptos"/>
              </a:rPr>
              <a:t>资金进入 -&gt; 治理交易</a:t>
            </a:r>
          </a:p>
          <a:p>
            <a:pPr algn="ctr">
              <a:defRPr sz="1088" b="0">
                <a:solidFill>
                  <a:srgbClr val="E8F5EF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E8F5EF"/>
                </a:solidFill>
                <a:latin typeface="Aptos"/>
                <a:ea typeface="Aptos"/>
                <a:cs typeface="Aptos"/>
              </a:rPr>
              <a:t>-&gt; 达标后选择退出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F34ACC-38AC-4345-AFD5-58E796B03B6A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51A445-02BF-41C7-8941-59F03CFA21D4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3A9F6E-BB53-4CAA-9735-66A2D8295B2E}"/>
              </a:ext>
            </a:extLst>
          </p:cNvPr>
          <p:cNvSpPr>
            <a:spLocks noGrp="1"/>
          </p:cNvSpPr>
          <p:nvPr/>
        </p:nvSpPr>
        <p:spPr>
          <a:xfrm>
            <a:off x="800100" y="3981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394C7-FCFC-4F75-83E8-33A749B9F32D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机构存入资金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BD90C0-C5EC-4DF3-921A-2E8C103DEB04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资金按照明确授权、报告节奏和风险边界进入项目。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786574-6CEB-402D-8BEC-9A9D39D1B20A}"/>
              </a:ext>
            </a:extLst>
          </p:cNvPr>
          <p:cNvSpPr>
            <a:spLocks noGrp="1"/>
          </p:cNvSpPr>
          <p:nvPr/>
        </p:nvSpPr>
        <p:spPr>
          <a:xfrm>
            <a:off x="4524375" y="38290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1B6E80-8A08-41B7-BF73-6E937C62362D}"/>
              </a:ext>
            </a:extLst>
          </p:cNvPr>
          <p:cNvSpPr>
            <a:spLocks noGrp="1"/>
          </p:cNvSpPr>
          <p:nvPr/>
        </p:nvSpPr>
        <p:spPr>
          <a:xfrm>
            <a:off x="4524375" y="382905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44455-443A-455B-B3E5-3AE6A18C8598}"/>
              </a:ext>
            </a:extLst>
          </p:cNvPr>
          <p:cNvSpPr>
            <a:spLocks noGrp="1"/>
          </p:cNvSpPr>
          <p:nvPr/>
        </p:nvSpPr>
        <p:spPr>
          <a:xfrm>
            <a:off x="4714875" y="3981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CD7972-1778-4803-AE71-CAE4911A7E0D}"/>
              </a:ext>
            </a:extLst>
          </p:cNvPr>
          <p:cNvSpPr>
            <a:spLocks noGrp="1"/>
          </p:cNvSpPr>
          <p:nvPr/>
        </p:nvSpPr>
        <p:spPr>
          <a:xfrm>
            <a:off x="5153025" y="39624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AI 智能体受控运行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221A95-0780-4EDF-AEC0-8CCD38F53DCE}"/>
              </a:ext>
            </a:extLst>
          </p:cNvPr>
          <p:cNvSpPr>
            <a:spLocks noGrp="1"/>
          </p:cNvSpPr>
          <p:nvPr/>
        </p:nvSpPr>
        <p:spPr>
          <a:xfrm>
            <a:off x="5153025" y="440055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分析、研究、交易与风控团队生成可审计建议。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428F82-2841-44E3-9705-D4E7948B7927}"/>
              </a:ext>
            </a:extLst>
          </p:cNvPr>
          <p:cNvSpPr>
            <a:spLocks noGrp="1"/>
          </p:cNvSpPr>
          <p:nvPr/>
        </p:nvSpPr>
        <p:spPr>
          <a:xfrm>
            <a:off x="8439150" y="382905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044B99-BCA7-485F-B323-FF99489B5D40}"/>
              </a:ext>
            </a:extLst>
          </p:cNvPr>
          <p:cNvSpPr>
            <a:spLocks noGrp="1"/>
          </p:cNvSpPr>
          <p:nvPr/>
        </p:nvSpPr>
        <p:spPr>
          <a:xfrm>
            <a:off x="8439150" y="3829050"/>
            <a:ext cx="66675" cy="121920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6B052D-5262-40B9-A796-C7CAF02EF47A}"/>
              </a:ext>
            </a:extLst>
          </p:cNvPr>
          <p:cNvSpPr>
            <a:spLocks noGrp="1"/>
          </p:cNvSpPr>
          <p:nvPr/>
        </p:nvSpPr>
        <p:spPr>
          <a:xfrm>
            <a:off x="8629650" y="3981450"/>
            <a:ext cx="400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FAEE35-DA93-4A83-8FA6-394DC59C35C3}"/>
              </a:ext>
            </a:extLst>
          </p:cNvPr>
          <p:cNvSpPr>
            <a:spLocks noGrp="1"/>
          </p:cNvSpPr>
          <p:nvPr/>
        </p:nvSpPr>
        <p:spPr>
          <a:xfrm>
            <a:off x="9067800" y="3962400"/>
            <a:ext cx="2305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达标后按规则选择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AD0A07-0873-405C-A235-158A5BC37818}"/>
              </a:ext>
            </a:extLst>
          </p:cNvPr>
          <p:cNvSpPr>
            <a:spLocks noGrp="1"/>
          </p:cNvSpPr>
          <p:nvPr/>
        </p:nvSpPr>
        <p:spPr>
          <a:xfrm>
            <a:off x="9067800" y="4400550"/>
            <a:ext cx="2305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3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3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达到 2x 资金目标后，可按协议提款或将利润留在美国。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8B28F5-4AD8-4FD8-B779-B05FF6756AEE}"/>
              </a:ext>
            </a:extLst>
          </p:cNvPr>
          <p:cNvSpPr>
            <a:spLocks noGrp="1"/>
          </p:cNvSpPr>
          <p:nvPr/>
        </p:nvSpPr>
        <p:spPr>
          <a:xfrm>
            <a:off x="3905250" y="4362450"/>
            <a:ext cx="4000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F6F6AF1-24FE-4BEC-B935-79CFD3BB3BCF}"/>
              </a:ext>
            </a:extLst>
          </p:cNvPr>
          <p:cNvSpPr>
            <a:spLocks noGrp="1"/>
          </p:cNvSpPr>
          <p:nvPr/>
        </p:nvSpPr>
        <p:spPr>
          <a:xfrm>
            <a:off x="7820025" y="4362450"/>
            <a:ext cx="4000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A6E224-2A67-4FF4-91B8-EE0281E8B5BA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972800" cy="6286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EC68C7-7983-4FEB-B1BD-1368A49A342C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10629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表述边界：本页将“资金翻倍”定义为目标情景，并非收益保证。最终条款需经过法律、券商与合规审查。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F3900F3-32C5-4E44-80C5-387F0655E49B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38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资金机构讨论稿 | 收益表述为目标情景而非保证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610685-B154-49BF-87C8-D710ECF11136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02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6A27F9D-0AED-4A41-8A07-0C80CB9DC0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C5F7D1C9-E8A4-48CE-AE79-9FB9F0D5F31B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D2E1FEBE-6412-4204-BD59-68CA5AA515E1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产品系统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64D142-AB4E-40E7-910A-B1D89AD0BCA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666750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7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7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AI财神把市场不确定性转化为可审计的交易决策。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A68BA0-AD9B-48B0-8E23-40115240B7AA}"/>
              </a:ext>
            </a:extLst>
          </p:cNvPr>
          <p:cNvSpPr>
            <a:spLocks noGrp="1"/>
          </p:cNvSpPr>
          <p:nvPr/>
        </p:nvSpPr>
        <p:spPr>
          <a:xfrm>
            <a:off x="628650" y="2133600"/>
            <a:ext cx="6477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系统将市场数据、智能体辩论、交易建议、人工批准、风控闸门与券商执行串成一条可复盘链路。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35C48A-38DE-4AB6-BD34-A51CF531004F}"/>
              </a:ext>
            </a:extLst>
          </p:cNvPr>
          <p:cNvSpPr>
            <a:spLocks noGrp="1"/>
          </p:cNvSpPr>
          <p:nvPr/>
        </p:nvSpPr>
        <p:spPr>
          <a:xfrm>
            <a:off x="7496175" y="857250"/>
            <a:ext cx="876300" cy="990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E2BCBE-B5ED-4EDA-93CD-E3580C338D70}"/>
              </a:ext>
            </a:extLst>
          </p:cNvPr>
          <p:cNvSpPr>
            <a:spLocks noGrp="1"/>
          </p:cNvSpPr>
          <p:nvPr/>
        </p:nvSpPr>
        <p:spPr>
          <a:xfrm>
            <a:off x="7591425" y="10668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研究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177774-07F2-4644-AA70-95A72F0EEB68}"/>
              </a:ext>
            </a:extLst>
          </p:cNvPr>
          <p:cNvSpPr>
            <a:spLocks noGrp="1"/>
          </p:cNvSpPr>
          <p:nvPr/>
        </p:nvSpPr>
        <p:spPr>
          <a:xfrm>
            <a:off x="7572375" y="1390650"/>
            <a:ext cx="72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基本面、新闻、情绪、技术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F83401-EB14-4C4F-8DF7-BF5779FFC868}"/>
              </a:ext>
            </a:extLst>
          </p:cNvPr>
          <p:cNvSpPr>
            <a:spLocks noGrp="1"/>
          </p:cNvSpPr>
          <p:nvPr/>
        </p:nvSpPr>
        <p:spPr>
          <a:xfrm>
            <a:off x="8496300" y="857250"/>
            <a:ext cx="876300" cy="990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09C20D-EEFD-42AE-BF92-AF634A0B4BB6}"/>
              </a:ext>
            </a:extLst>
          </p:cNvPr>
          <p:cNvSpPr>
            <a:spLocks noGrp="1"/>
          </p:cNvSpPr>
          <p:nvPr/>
        </p:nvSpPr>
        <p:spPr>
          <a:xfrm>
            <a:off x="8591550" y="10668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辩论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B3CA8A-9558-4BAC-9415-1800787E9684}"/>
              </a:ext>
            </a:extLst>
          </p:cNvPr>
          <p:cNvSpPr>
            <a:spLocks noGrp="1"/>
          </p:cNvSpPr>
          <p:nvPr/>
        </p:nvSpPr>
        <p:spPr>
          <a:xfrm>
            <a:off x="8572500" y="1390650"/>
            <a:ext cx="72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多空观点被记录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FD59F0-D572-42D5-96FA-40756E42BB24}"/>
              </a:ext>
            </a:extLst>
          </p:cNvPr>
          <p:cNvSpPr>
            <a:spLocks noGrp="1"/>
          </p:cNvSpPr>
          <p:nvPr/>
        </p:nvSpPr>
        <p:spPr>
          <a:xfrm>
            <a:off x="9496425" y="857250"/>
            <a:ext cx="876300" cy="9906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546611-311B-4A2A-B9D8-6C92A42C907D}"/>
              </a:ext>
            </a:extLst>
          </p:cNvPr>
          <p:cNvSpPr>
            <a:spLocks noGrp="1"/>
          </p:cNvSpPr>
          <p:nvPr/>
        </p:nvSpPr>
        <p:spPr>
          <a:xfrm>
            <a:off x="9591675" y="10668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决策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096BC4-9DAB-49AE-9016-7CA8DC8C15CF}"/>
              </a:ext>
            </a:extLst>
          </p:cNvPr>
          <p:cNvSpPr>
            <a:spLocks noGrp="1"/>
          </p:cNvSpPr>
          <p:nvPr/>
        </p:nvSpPr>
        <p:spPr>
          <a:xfrm>
            <a:off x="9572625" y="1390650"/>
            <a:ext cx="72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交易建议与理由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6A9820-0304-4710-B143-E38AE4CFFA25}"/>
              </a:ext>
            </a:extLst>
          </p:cNvPr>
          <p:cNvSpPr>
            <a:spLocks noGrp="1"/>
          </p:cNvSpPr>
          <p:nvPr/>
        </p:nvSpPr>
        <p:spPr>
          <a:xfrm>
            <a:off x="10496550" y="857250"/>
            <a:ext cx="876300" cy="990600"/>
          </a:xfrm>
          <a:prstGeom prst="rect">
            <a:avLst/>
          </a:prstGeom>
          <a:solidFill>
            <a:srgbClr val="0D6B5E"/>
          </a:solidFill>
          <a:ln w="9525">
            <a:solidFill>
              <a:srgbClr val="0D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E5486D-5EF5-4AA9-B800-639FD336816D}"/>
              </a:ext>
            </a:extLst>
          </p:cNvPr>
          <p:cNvSpPr>
            <a:spLocks noGrp="1"/>
          </p:cNvSpPr>
          <p:nvPr/>
        </p:nvSpPr>
        <p:spPr>
          <a:xfrm>
            <a:off x="10591800" y="10668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CE25C0-1542-4AE0-B1C0-55D85329CE65}"/>
              </a:ext>
            </a:extLst>
          </p:cNvPr>
          <p:cNvSpPr>
            <a:spLocks noGrp="1"/>
          </p:cNvSpPr>
          <p:nvPr/>
        </p:nvSpPr>
        <p:spPr>
          <a:xfrm>
            <a:off x="10572750" y="1390650"/>
            <a:ext cx="72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0">
                <a:solidFill>
                  <a:srgbClr val="E4F3E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E4F3EE"/>
                </a:solidFill>
                <a:latin typeface="Aptos"/>
                <a:ea typeface="Aptos"/>
                <a:cs typeface="Aptos"/>
              </a:rPr>
              <a:t>风控与组合批准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174070" y="2990850"/>
            <a:ext cx="7843860" cy="23622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D1366FA-8248-4C2D-B815-235EF973445F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72800" cy="2743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9734FC-482A-44E1-B787-97B681A841ED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对资金方的价值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010E38-3CAB-4E4A-93E2-B12723FF4D7B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28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资金不是依赖不可解释模型输出；每一次建议都可追溯输入、推理、风控检查与执行记录。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0186FD-7D62-438D-938D-65FCBB51F75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38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来源：TradingAgents README 与 assets/schema.png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ABF4D9-EF0C-46A3-856C-72E04B4901F9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161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1785C11-7141-4AA2-80FC-D977F446C8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2B8A5497-F4E3-4096-8447-D434EAF9EFA1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4-label">
            <a:extLst>
              <a:ext uri="{FF2B5EF4-FFF2-40B4-BE49-F238E27FC236}">
                <a16:creationId xmlns:a16="http://schemas.microsoft.com/office/drawing/2014/main" id="{6014EB69-579D-4491-9151-986F6A0F9721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商业模型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5B3166-4299-4FFD-A22C-B3AE334DB70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资金机构从存入资金到目标制退出，有清晰路径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20383-CE9A-4854-845B-D5C6E1DA997C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8667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商业模型强调结构：资金进入、可审计交易、绩效报告，以及达到目标阈值后的预先约定选择。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196DE8-D734-4758-BF78-84CCE0EA80A5}"/>
              </a:ext>
            </a:extLst>
          </p:cNvPr>
          <p:cNvSpPr>
            <a:spLocks noGrp="1"/>
          </p:cNvSpPr>
          <p:nvPr/>
        </p:nvSpPr>
        <p:spPr>
          <a:xfrm>
            <a:off x="1343025" y="3688474"/>
            <a:ext cx="3143250" cy="552450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E7A96D-3FAE-454C-B0F3-7AFE6FF93D81}"/>
              </a:ext>
            </a:extLst>
          </p:cNvPr>
          <p:cNvSpPr>
            <a:spLocks noGrp="1"/>
          </p:cNvSpPr>
          <p:nvPr/>
        </p:nvSpPr>
        <p:spPr>
          <a:xfrm>
            <a:off x="1514475" y="3840874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初始机构资金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8950D4-5B16-4A66-8404-BD110B1E21A5}"/>
              </a:ext>
            </a:extLst>
          </p:cNvPr>
          <p:cNvSpPr>
            <a:spLocks noGrp="1"/>
          </p:cNvSpPr>
          <p:nvPr/>
        </p:nvSpPr>
        <p:spPr>
          <a:xfrm>
            <a:off x="4676775" y="3840874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1.0x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D9DC10-ACC2-404B-BCA9-6790DB9C2054}"/>
              </a:ext>
            </a:extLst>
          </p:cNvPr>
          <p:cNvSpPr>
            <a:spLocks noGrp="1"/>
          </p:cNvSpPr>
          <p:nvPr/>
        </p:nvSpPr>
        <p:spPr>
          <a:xfrm>
            <a:off x="1343025" y="3002674"/>
            <a:ext cx="3143250" cy="552450"/>
          </a:xfrm>
          <a:prstGeom prst="rect">
            <a:avLst/>
          </a:prstGeom>
          <a:solidFill>
            <a:srgbClr val="C99B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7793B9-839F-4BA0-A6AB-048728A181C3}"/>
              </a:ext>
            </a:extLst>
          </p:cNvPr>
          <p:cNvSpPr>
            <a:spLocks noGrp="1"/>
          </p:cNvSpPr>
          <p:nvPr/>
        </p:nvSpPr>
        <p:spPr>
          <a:xfrm>
            <a:off x="1514475" y="3155074"/>
            <a:ext cx="2381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目标利润层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8AA4E2-5A55-4038-8454-C7F1F9A3C03C}"/>
              </a:ext>
            </a:extLst>
          </p:cNvPr>
          <p:cNvSpPr>
            <a:spLocks noGrp="1"/>
          </p:cNvSpPr>
          <p:nvPr/>
        </p:nvSpPr>
        <p:spPr>
          <a:xfrm>
            <a:off x="4676775" y="3155074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+1.0x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E33655-0718-4B5B-944C-53BCEF40D4C0}"/>
              </a:ext>
            </a:extLst>
          </p:cNvPr>
          <p:cNvSpPr>
            <a:spLocks noGrp="1"/>
          </p:cNvSpPr>
          <p:nvPr/>
        </p:nvSpPr>
        <p:spPr>
          <a:xfrm>
            <a:off x="1266825" y="2907424"/>
            <a:ext cx="57150" cy="1428750"/>
          </a:xfrm>
          <a:prstGeom prst="rect">
            <a:avLst/>
          </a:prstGeom>
          <a:solidFill>
            <a:srgbClr val="1020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7B1EC0-EE4E-4841-9213-6C94900D1821}"/>
              </a:ext>
            </a:extLst>
          </p:cNvPr>
          <p:cNvSpPr>
            <a:spLocks noGrp="1"/>
          </p:cNvSpPr>
          <p:nvPr/>
        </p:nvSpPr>
        <p:spPr>
          <a:xfrm>
            <a:off x="581025" y="3536074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10201E"/>
                </a:solidFill>
                <a:latin typeface="Aptos"/>
                <a:ea typeface="Aptos"/>
                <a:cs typeface="Aptos"/>
              </a:rPr>
              <a:t>2x </a:t>
            </a:r>
            <a:r>
              <a:rPr sz="1050" b="1" dirty="0" err="1">
                <a:solidFill>
                  <a:srgbClr val="10201E"/>
                </a:solidFill>
                <a:latin typeface="Aptos"/>
                <a:ea typeface="Aptos"/>
                <a:cs typeface="Aptos"/>
              </a:rPr>
              <a:t>目标</a:t>
            </a:r>
            <a:endParaRPr sz="1050" b="1" dirty="0">
              <a:solidFill>
                <a:srgbClr val="10201E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0763E6-ADA3-4E94-8776-BA5596DAF4ED}"/>
              </a:ext>
            </a:extLst>
          </p:cNvPr>
          <p:cNvSpPr>
            <a:spLocks noGrp="1"/>
          </p:cNvSpPr>
          <p:nvPr/>
        </p:nvSpPr>
        <p:spPr>
          <a:xfrm>
            <a:off x="5381625" y="2686050"/>
            <a:ext cx="1762125" cy="1733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42493B-1967-439A-B89C-37099A2FCC1B}"/>
              </a:ext>
            </a:extLst>
          </p:cNvPr>
          <p:cNvSpPr>
            <a:spLocks noGrp="1"/>
          </p:cNvSpPr>
          <p:nvPr/>
        </p:nvSpPr>
        <p:spPr>
          <a:xfrm>
            <a:off x="5553075" y="2895600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提取资金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9E6C9F-F191-4F6A-8432-403DFA8EDC98}"/>
              </a:ext>
            </a:extLst>
          </p:cNvPr>
          <p:cNvSpPr>
            <a:spLocks noGrp="1"/>
          </p:cNvSpPr>
          <p:nvPr/>
        </p:nvSpPr>
        <p:spPr>
          <a:xfrm>
            <a:off x="5553075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达到协议定义目标后，机构可按协议退出。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1790F0-BFDB-4486-B0B6-18513D4D8C75}"/>
              </a:ext>
            </a:extLst>
          </p:cNvPr>
          <p:cNvSpPr>
            <a:spLocks noGrp="1"/>
          </p:cNvSpPr>
          <p:nvPr/>
        </p:nvSpPr>
        <p:spPr>
          <a:xfrm>
            <a:off x="7429500" y="2686050"/>
            <a:ext cx="1762125" cy="1733550"/>
          </a:xfrm>
          <a:prstGeom prst="rect">
            <a:avLst/>
          </a:prstGeom>
          <a:solidFill>
            <a:srgbClr val="DCECE6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D9B083-F9FE-4B21-8281-B7DD562F5C57}"/>
              </a:ext>
            </a:extLst>
          </p:cNvPr>
          <p:cNvSpPr>
            <a:spLocks noGrp="1"/>
          </p:cNvSpPr>
          <p:nvPr/>
        </p:nvSpPr>
        <p:spPr>
          <a:xfrm>
            <a:off x="7600950" y="2895600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利润留在美国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69506E-EE86-4026-A8E2-8EEF63AE31F8}"/>
              </a:ext>
            </a:extLst>
          </p:cNvPr>
          <p:cNvSpPr>
            <a:spLocks noGrp="1"/>
          </p:cNvSpPr>
          <p:nvPr/>
        </p:nvSpPr>
        <p:spPr>
          <a:xfrm>
            <a:off x="7600950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机构可选择把利润留在美国结构中继续参与。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36E40E-486D-407E-B8AA-18A7EC99F7AA}"/>
              </a:ext>
            </a:extLst>
          </p:cNvPr>
          <p:cNvSpPr>
            <a:spLocks noGrp="1"/>
          </p:cNvSpPr>
          <p:nvPr/>
        </p:nvSpPr>
        <p:spPr>
          <a:xfrm>
            <a:off x="9477375" y="2686050"/>
            <a:ext cx="1762125" cy="173355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3448E1-586E-44F1-8B50-0C7DAD8CC867}"/>
              </a:ext>
            </a:extLst>
          </p:cNvPr>
          <p:cNvSpPr>
            <a:spLocks noGrp="1"/>
          </p:cNvSpPr>
          <p:nvPr/>
        </p:nvSpPr>
        <p:spPr>
          <a:xfrm>
            <a:off x="9648825" y="2895600"/>
            <a:ext cx="14097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新授权再投入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36DC46-2024-47E3-B384-1AAD646BBD9C}"/>
              </a:ext>
            </a:extLst>
          </p:cNvPr>
          <p:cNvSpPr>
            <a:spLocks noGrp="1"/>
          </p:cNvSpPr>
          <p:nvPr/>
        </p:nvSpPr>
        <p:spPr>
          <a:xfrm>
            <a:off x="9648825" y="3505200"/>
            <a:ext cx="14097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重新定义目标、限制与报告机制后继续运行。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79AC87-2F3C-426C-A3E5-CCFD020E6DE7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247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B8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5C38"/>
                </a:solidFill>
                <a:latin typeface="Aptos"/>
                <a:ea typeface="Aptos"/>
                <a:cs typeface="Aptos"/>
              </a:rPr>
              <a:t>需确认的商业条款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9948DC8-C0CC-4540-9CD2-32FBE08EBB7D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952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资金规模 | 托管/券商安排 | 提款机制 | 利润处理 | 司法辖区 | 风险限制 | 报告频率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FEDD56-8C5F-4A53-8524-EC05F9B05013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38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商业模型按目标制资金路径表述；不构成收益保证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CC4E875-BBC9-49E3-8288-EB99DD4CA275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67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8E8C791-386C-4F83-BD36-AA760D7C5E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0BDCB1ED-5494-4C7C-BBC8-0C1E9CE87ED3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5-label">
            <a:extLst>
              <a:ext uri="{FF2B5EF4-FFF2-40B4-BE49-F238E27FC236}">
                <a16:creationId xmlns:a16="http://schemas.microsoft.com/office/drawing/2014/main" id="{F0D8D276-7DC4-4D77-B8A6-F3E7C8CD6D0E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风险控制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5F7BD-54BC-4F7B-9D2E-C5748A4A503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62000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风险控制在交易执行前发生，而不是在亏损后补救。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D25FB1-25DA-46EC-A273-D93935D9D06F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7429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资金机构需要的是治理能力，而不只是收益叙事。平台围绕智能体流程暴露审批、限额、执行状态与审计记录。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957926"/>
            <a:ext cx="2781300" cy="8273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2FCD707-6802-4958-A0B5-E25851AA1FE0}"/>
              </a:ext>
            </a:extLst>
          </p:cNvPr>
          <p:cNvSpPr>
            <a:spLocks noGrp="1"/>
          </p:cNvSpPr>
          <p:nvPr/>
        </p:nvSpPr>
        <p:spPr>
          <a:xfrm>
            <a:off x="781050" y="2895600"/>
            <a:ext cx="219075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343D9B-8739-46B0-8996-840E4E698297}"/>
              </a:ext>
            </a:extLst>
          </p:cNvPr>
          <p:cNvSpPr>
            <a:spLocks noGrp="1"/>
          </p:cNvSpPr>
          <p:nvPr/>
        </p:nvSpPr>
        <p:spPr>
          <a:xfrm>
            <a:off x="914400" y="30003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控制项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3E3B0C-A102-4BD9-B782-0AC9FD0EBB6F}"/>
              </a:ext>
            </a:extLst>
          </p:cNvPr>
          <p:cNvSpPr>
            <a:spLocks noGrp="1"/>
          </p:cNvSpPr>
          <p:nvPr/>
        </p:nvSpPr>
        <p:spPr>
          <a:xfrm>
            <a:off x="2971800" y="2895600"/>
            <a:ext cx="295275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365FB0-80FC-448B-B53F-C00BBC8D0A43}"/>
              </a:ext>
            </a:extLst>
          </p:cNvPr>
          <p:cNvSpPr>
            <a:spLocks noGrp="1"/>
          </p:cNvSpPr>
          <p:nvPr/>
        </p:nvSpPr>
        <p:spPr>
          <a:xfrm>
            <a:off x="3105150" y="30003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资金方价值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3869A1-F6FE-4E38-AB93-BD634AEA4AC9}"/>
              </a:ext>
            </a:extLst>
          </p:cNvPr>
          <p:cNvSpPr>
            <a:spLocks noGrp="1"/>
          </p:cNvSpPr>
          <p:nvPr/>
        </p:nvSpPr>
        <p:spPr>
          <a:xfrm>
            <a:off x="5924550" y="2895600"/>
            <a:ext cx="4953000" cy="457200"/>
          </a:xfrm>
          <a:prstGeom prst="rect">
            <a:avLst/>
          </a:prstGeom>
          <a:solidFill>
            <a:srgbClr val="0D6B5E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85CD5C-6E3B-4CF7-B86D-B0821E9A260D}"/>
              </a:ext>
            </a:extLst>
          </p:cNvPr>
          <p:cNvSpPr>
            <a:spLocks noGrp="1"/>
          </p:cNvSpPr>
          <p:nvPr/>
        </p:nvSpPr>
        <p:spPr>
          <a:xfrm>
            <a:off x="6057900" y="30003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平台机制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3D9B47-CC53-4090-B057-E9214150F22A}"/>
              </a:ext>
            </a:extLst>
          </p:cNvPr>
          <p:cNvSpPr>
            <a:spLocks noGrp="1"/>
          </p:cNvSpPr>
          <p:nvPr/>
        </p:nvSpPr>
        <p:spPr>
          <a:xfrm>
            <a:off x="781050" y="33528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03E3FD-1852-4BE4-9E4E-13527D1D9CAC}"/>
              </a:ext>
            </a:extLst>
          </p:cNvPr>
          <p:cNvSpPr>
            <a:spLocks noGrp="1"/>
          </p:cNvSpPr>
          <p:nvPr/>
        </p:nvSpPr>
        <p:spPr>
          <a:xfrm>
            <a:off x="914400" y="34575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交易前复核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2BEBD9-0157-4A8F-9082-D5C20FC82455}"/>
              </a:ext>
            </a:extLst>
          </p:cNvPr>
          <p:cNvSpPr>
            <a:spLocks noGrp="1"/>
          </p:cNvSpPr>
          <p:nvPr/>
        </p:nvSpPr>
        <p:spPr>
          <a:xfrm>
            <a:off x="2971800" y="33528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5513C6-70F2-4E53-8E3E-824AFD3C4E00}"/>
              </a:ext>
            </a:extLst>
          </p:cNvPr>
          <p:cNvSpPr>
            <a:spLocks noGrp="1"/>
          </p:cNvSpPr>
          <p:nvPr/>
        </p:nvSpPr>
        <p:spPr>
          <a:xfrm>
            <a:off x="3105150" y="34575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避免盲目自动化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3C523C-77D0-405C-95BB-ABCEFD2302CB}"/>
              </a:ext>
            </a:extLst>
          </p:cNvPr>
          <p:cNvSpPr>
            <a:spLocks noGrp="1"/>
          </p:cNvSpPr>
          <p:nvPr/>
        </p:nvSpPr>
        <p:spPr>
          <a:xfrm>
            <a:off x="5924550" y="33528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E71F51-1EF0-42B0-8FF8-1F134F38B9D6}"/>
              </a:ext>
            </a:extLst>
          </p:cNvPr>
          <p:cNvSpPr>
            <a:spLocks noGrp="1"/>
          </p:cNvSpPr>
          <p:nvPr/>
        </p:nvSpPr>
        <p:spPr>
          <a:xfrm>
            <a:off x="6057900" y="34575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对推荐交易进行人工批准/拒绝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635DAD-2E31-40F8-9042-A9C5AE47D718}"/>
              </a:ext>
            </a:extLst>
          </p:cNvPr>
          <p:cNvSpPr>
            <a:spLocks noGrp="1"/>
          </p:cNvSpPr>
          <p:nvPr/>
        </p:nvSpPr>
        <p:spPr>
          <a:xfrm>
            <a:off x="781050" y="3810000"/>
            <a:ext cx="2190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72BB91-6848-44DF-8313-AC554DF489C8}"/>
              </a:ext>
            </a:extLst>
          </p:cNvPr>
          <p:cNvSpPr>
            <a:spLocks noGrp="1"/>
          </p:cNvSpPr>
          <p:nvPr/>
        </p:nvSpPr>
        <p:spPr>
          <a:xfrm>
            <a:off x="914400" y="39147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风险限额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E8F58D-E842-41BC-A463-78EB9EB78983}"/>
              </a:ext>
            </a:extLst>
          </p:cNvPr>
          <p:cNvSpPr>
            <a:spLocks noGrp="1"/>
          </p:cNvSpPr>
          <p:nvPr/>
        </p:nvSpPr>
        <p:spPr>
          <a:xfrm>
            <a:off x="2971800" y="3810000"/>
            <a:ext cx="2952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0C9D8D-1DE7-4DAB-89E6-C9BFD72FBD40}"/>
              </a:ext>
            </a:extLst>
          </p:cNvPr>
          <p:cNvSpPr>
            <a:spLocks noGrp="1"/>
          </p:cNvSpPr>
          <p:nvPr/>
        </p:nvSpPr>
        <p:spPr>
          <a:xfrm>
            <a:off x="3105150" y="39147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执行前限制敞口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91621E-9C3E-4181-9DBA-DC4AD3481446}"/>
              </a:ext>
            </a:extLst>
          </p:cNvPr>
          <p:cNvSpPr>
            <a:spLocks noGrp="1"/>
          </p:cNvSpPr>
          <p:nvPr/>
        </p:nvSpPr>
        <p:spPr>
          <a:xfrm>
            <a:off x="5924550" y="3810000"/>
            <a:ext cx="495300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27117D-BB09-4C67-B26F-38C43021C181}"/>
              </a:ext>
            </a:extLst>
          </p:cNvPr>
          <p:cNvSpPr>
            <a:spLocks noGrp="1"/>
          </p:cNvSpPr>
          <p:nvPr/>
        </p:nvSpPr>
        <p:spPr>
          <a:xfrm>
            <a:off x="6057900" y="39147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持仓、订单与策略限制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68B7A8-9BB3-4DCB-B000-143B7F90412B}"/>
              </a:ext>
            </a:extLst>
          </p:cNvPr>
          <p:cNvSpPr>
            <a:spLocks noGrp="1"/>
          </p:cNvSpPr>
          <p:nvPr/>
        </p:nvSpPr>
        <p:spPr>
          <a:xfrm>
            <a:off x="781050" y="42672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855A3A-4AD4-4762-9573-53A614FADB22}"/>
              </a:ext>
            </a:extLst>
          </p:cNvPr>
          <p:cNvSpPr>
            <a:spLocks noGrp="1"/>
          </p:cNvSpPr>
          <p:nvPr/>
        </p:nvSpPr>
        <p:spPr>
          <a:xfrm>
            <a:off x="914400" y="43719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券商凭证安全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4F91F1-9478-4406-B075-3FCFBA32A890}"/>
              </a:ext>
            </a:extLst>
          </p:cNvPr>
          <p:cNvSpPr>
            <a:spLocks noGrp="1"/>
          </p:cNvSpPr>
          <p:nvPr/>
        </p:nvSpPr>
        <p:spPr>
          <a:xfrm>
            <a:off x="2971800" y="42672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6ED4CF-5C2C-4F00-97FE-D40221545E6F}"/>
              </a:ext>
            </a:extLst>
          </p:cNvPr>
          <p:cNvSpPr>
            <a:spLocks noGrp="1"/>
          </p:cNvSpPr>
          <p:nvPr/>
        </p:nvSpPr>
        <p:spPr>
          <a:xfrm>
            <a:off x="3105150" y="43719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保护账户访问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490B4B-F1CF-47D7-A7DF-718E6F52FC69}"/>
              </a:ext>
            </a:extLst>
          </p:cNvPr>
          <p:cNvSpPr>
            <a:spLocks noGrp="1"/>
          </p:cNvSpPr>
          <p:nvPr/>
        </p:nvSpPr>
        <p:spPr>
          <a:xfrm>
            <a:off x="5924550" y="42672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CA13E2-031D-471F-907F-5A3295A05796}"/>
              </a:ext>
            </a:extLst>
          </p:cNvPr>
          <p:cNvSpPr>
            <a:spLocks noGrp="1"/>
          </p:cNvSpPr>
          <p:nvPr/>
        </p:nvSpPr>
        <p:spPr>
          <a:xfrm>
            <a:off x="6057900" y="43719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安全密钥存储与令牌认证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E04ED31-4758-4616-9C11-7F8645E295C7}"/>
              </a:ext>
            </a:extLst>
          </p:cNvPr>
          <p:cNvSpPr>
            <a:spLocks noGrp="1"/>
          </p:cNvSpPr>
          <p:nvPr/>
        </p:nvSpPr>
        <p:spPr>
          <a:xfrm>
            <a:off x="781050" y="4724400"/>
            <a:ext cx="2190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854FE6C-19C6-4681-8335-F546B200685E}"/>
              </a:ext>
            </a:extLst>
          </p:cNvPr>
          <p:cNvSpPr>
            <a:spLocks noGrp="1"/>
          </p:cNvSpPr>
          <p:nvPr/>
        </p:nvSpPr>
        <p:spPr>
          <a:xfrm>
            <a:off x="914400" y="48291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审计轨迹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E6F34A-6F41-4B7C-9438-A4C5D8CC0C06}"/>
              </a:ext>
            </a:extLst>
          </p:cNvPr>
          <p:cNvSpPr>
            <a:spLocks noGrp="1"/>
          </p:cNvSpPr>
          <p:nvPr/>
        </p:nvSpPr>
        <p:spPr>
          <a:xfrm>
            <a:off x="2971800" y="4724400"/>
            <a:ext cx="295275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3F442F-0B3D-4067-A61E-4059D2B54D56}"/>
              </a:ext>
            </a:extLst>
          </p:cNvPr>
          <p:cNvSpPr>
            <a:spLocks noGrp="1"/>
          </p:cNvSpPr>
          <p:nvPr/>
        </p:nvSpPr>
        <p:spPr>
          <a:xfrm>
            <a:off x="3105150" y="48291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支持复盘与问责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E3FB3D-8631-4FB6-BC73-061C4C223ABE}"/>
              </a:ext>
            </a:extLst>
          </p:cNvPr>
          <p:cNvSpPr>
            <a:spLocks noGrp="1"/>
          </p:cNvSpPr>
          <p:nvPr/>
        </p:nvSpPr>
        <p:spPr>
          <a:xfrm>
            <a:off x="5924550" y="4724400"/>
            <a:ext cx="4953000" cy="457200"/>
          </a:xfrm>
          <a:prstGeom prst="rect">
            <a:avLst/>
          </a:prstGeom>
          <a:solidFill>
            <a:srgbClr val="F1EEE5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820BB8B-9BF2-4869-835B-D629CC6DCB67}"/>
              </a:ext>
            </a:extLst>
          </p:cNvPr>
          <p:cNvSpPr>
            <a:spLocks noGrp="1"/>
          </p:cNvSpPr>
          <p:nvPr/>
        </p:nvSpPr>
        <p:spPr>
          <a:xfrm>
            <a:off x="6057900" y="48291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推理日志、执行日志、用户行为记录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8BF4F8-6C2D-43BD-8F47-C136ACEAD992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2190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2F06E6-2299-4761-8463-D403F1B4D319}"/>
              </a:ext>
            </a:extLst>
          </p:cNvPr>
          <p:cNvSpPr>
            <a:spLocks noGrp="1"/>
          </p:cNvSpPr>
          <p:nvPr/>
        </p:nvSpPr>
        <p:spPr>
          <a:xfrm>
            <a:off x="914400" y="52863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实时监控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7DC38EA-35E7-4BB2-9325-CF955C0E7D02}"/>
              </a:ext>
            </a:extLst>
          </p:cNvPr>
          <p:cNvSpPr>
            <a:spLocks noGrp="1"/>
          </p:cNvSpPr>
          <p:nvPr/>
        </p:nvSpPr>
        <p:spPr>
          <a:xfrm>
            <a:off x="2971800" y="5181600"/>
            <a:ext cx="295275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D1BB201-809A-4D99-B382-AD99BF96C4DB}"/>
              </a:ext>
            </a:extLst>
          </p:cNvPr>
          <p:cNvSpPr>
            <a:spLocks noGrp="1"/>
          </p:cNvSpPr>
          <p:nvPr/>
        </p:nvSpPr>
        <p:spPr>
          <a:xfrm>
            <a:off x="3105150" y="5286375"/>
            <a:ext cx="2686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保持运营可见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CA4D6B-EEA2-4E65-9EDD-1DCECA575D7F}"/>
              </a:ext>
            </a:extLst>
          </p:cNvPr>
          <p:cNvSpPr>
            <a:spLocks noGrp="1"/>
          </p:cNvSpPr>
          <p:nvPr/>
        </p:nvSpPr>
        <p:spPr>
          <a:xfrm>
            <a:off x="5924550" y="5181600"/>
            <a:ext cx="4953000" cy="4572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7372264-B638-4BA2-A51F-D651385E072B}"/>
              </a:ext>
            </a:extLst>
          </p:cNvPr>
          <p:cNvSpPr>
            <a:spLocks noGrp="1"/>
          </p:cNvSpPr>
          <p:nvPr/>
        </p:nvSpPr>
        <p:spPr>
          <a:xfrm>
            <a:off x="6057900" y="5286375"/>
            <a:ext cx="468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05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状态、盈亏、智能体指标与告警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6D654B-0F5A-4049-A244-3AD953F24929}"/>
              </a:ext>
            </a:extLst>
          </p:cNvPr>
          <p:cNvSpPr>
            <a:spLocks noGrp="1"/>
          </p:cNvSpPr>
          <p:nvPr/>
        </p:nvSpPr>
        <p:spPr>
          <a:xfrm>
            <a:off x="781050" y="58864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资金机构决策视角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573B2A-0083-4B44-87E4-53662B1F788D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895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试点资金应仅在托管、回撤、止损、授权与报告规则明确后释放。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D6FAD5-8B22-4316-A636-30D4652A693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38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来源：TradingAgents 提案范围与 assets/risk.png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D1B4DE-3516-4E35-A02A-50014A9E0389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1555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5DB43315-CDD8-49B7-8515-8EF3A99FA7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F6210304-1143-423F-BB69-45E97AD746E8}"/>
              </a:ext>
            </a:extLst>
          </p:cNvPr>
          <p:cNvSpPr>
            <a:spLocks noGrp="1"/>
          </p:cNvSpPr>
          <p:nvPr/>
        </p:nvSpPr>
        <p:spPr>
          <a:xfrm>
            <a:off x="609600" y="528638"/>
            <a:ext cx="209550" cy="28575"/>
          </a:xfrm>
          <a:prstGeom prst="rect">
            <a:avLst/>
          </a:prstGeom>
          <a:solidFill>
            <a:srgbClr val="0D6B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165517DD-74C0-43E9-BB60-A3ED6FBFE5FF}"/>
              </a:ext>
            </a:extLst>
          </p:cNvPr>
          <p:cNvSpPr>
            <a:spLocks noGrp="1"/>
          </p:cNvSpPr>
          <p:nvPr/>
        </p:nvSpPr>
        <p:spPr>
          <a:xfrm>
            <a:off x="933450" y="45720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0D6B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D6B5E"/>
                </a:solidFill>
                <a:latin typeface="Aptos"/>
                <a:ea typeface="Aptos"/>
                <a:cs typeface="Aptos"/>
              </a:rPr>
              <a:t>资金路径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EDE1E-9C8C-4495-896C-656CB9C21CD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10201E"/>
                </a:solidFill>
                <a:latin typeface="Aptos Display"/>
                <a:ea typeface="Aptos Display"/>
                <a:cs typeface="Aptos Display"/>
              </a:rPr>
              <a:t>建议先启动受控试点，再扩大资金规模。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89C7D-607B-4005-A0AD-2B8B4AC85089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7810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资金机构试点应先验证治理、报告和运营纪律，再讨论规模化资金部署。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C8E52-3C68-4518-9671-42DB1B8531FF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02B7DD-E7FB-45B8-AFDC-BD76E8DACB45}"/>
              </a:ext>
            </a:extLst>
          </p:cNvPr>
          <p:cNvSpPr>
            <a:spLocks noGrp="1"/>
          </p:cNvSpPr>
          <p:nvPr/>
        </p:nvSpPr>
        <p:spPr>
          <a:xfrm>
            <a:off x="95250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674EC4-5F90-4C16-AEBA-D8D4F136F8B2}"/>
              </a:ext>
            </a:extLst>
          </p:cNvPr>
          <p:cNvSpPr>
            <a:spLocks noGrp="1"/>
          </p:cNvSpPr>
          <p:nvPr/>
        </p:nvSpPr>
        <p:spPr>
          <a:xfrm>
            <a:off x="137160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授权设计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9B6006-AEEB-4289-94EC-7649699B8EC4}"/>
              </a:ext>
            </a:extLst>
          </p:cNvPr>
          <p:cNvSpPr>
            <a:spLocks noGrp="1"/>
          </p:cNvSpPr>
          <p:nvPr/>
        </p:nvSpPr>
        <p:spPr>
          <a:xfrm>
            <a:off x="95250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确认资金规模、允许资产、券商/托管模式、提款规则与合规义务。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E52CC5-ABCB-45B9-8677-C4BC68C016B9}"/>
              </a:ext>
            </a:extLst>
          </p:cNvPr>
          <p:cNvSpPr>
            <a:spLocks noGrp="1"/>
          </p:cNvSpPr>
          <p:nvPr/>
        </p:nvSpPr>
        <p:spPr>
          <a:xfrm>
            <a:off x="316230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A2BD32-EE21-44A9-8933-790DB5D5C83F}"/>
              </a:ext>
            </a:extLst>
          </p:cNvPr>
          <p:cNvSpPr>
            <a:spLocks noGrp="1"/>
          </p:cNvSpPr>
          <p:nvPr/>
        </p:nvSpPr>
        <p:spPr>
          <a:xfrm>
            <a:off x="352425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776618-E1BA-4E00-92D4-91952EFB55D4}"/>
              </a:ext>
            </a:extLst>
          </p:cNvPr>
          <p:cNvSpPr>
            <a:spLocks noGrp="1"/>
          </p:cNvSpPr>
          <p:nvPr/>
        </p:nvSpPr>
        <p:spPr>
          <a:xfrm>
            <a:off x="371475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C83D38-37C8-4898-B2FB-A7DE613573A2}"/>
              </a:ext>
            </a:extLst>
          </p:cNvPr>
          <p:cNvSpPr>
            <a:spLocks noGrp="1"/>
          </p:cNvSpPr>
          <p:nvPr/>
        </p:nvSpPr>
        <p:spPr>
          <a:xfrm>
            <a:off x="413385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平台配置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8EBB61-6958-4DF2-807F-F8CE38702208}"/>
              </a:ext>
            </a:extLst>
          </p:cNvPr>
          <p:cNvSpPr>
            <a:spLocks noGrp="1"/>
          </p:cNvSpPr>
          <p:nvPr/>
        </p:nvSpPr>
        <p:spPr>
          <a:xfrm>
            <a:off x="371475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部署仪表盘、认证、智能体配置、券商集成与审计日志。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BBE48A-E702-4C60-9332-98FBEC4435E7}"/>
              </a:ext>
            </a:extLst>
          </p:cNvPr>
          <p:cNvSpPr>
            <a:spLocks noGrp="1"/>
          </p:cNvSpPr>
          <p:nvPr/>
        </p:nvSpPr>
        <p:spPr>
          <a:xfrm>
            <a:off x="592455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E0BD5F-41D7-4CC5-BC4E-E14E9900B4DF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2286000" cy="16383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B21695-3D3F-413B-B67E-09EBF1B30DCC}"/>
              </a:ext>
            </a:extLst>
          </p:cNvPr>
          <p:cNvSpPr>
            <a:spLocks noGrp="1"/>
          </p:cNvSpPr>
          <p:nvPr/>
        </p:nvSpPr>
        <p:spPr>
          <a:xfrm>
            <a:off x="647700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D6B5E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DD3405-3E05-4C24-9507-0E0264C97EE5}"/>
              </a:ext>
            </a:extLst>
          </p:cNvPr>
          <p:cNvSpPr>
            <a:spLocks noGrp="1"/>
          </p:cNvSpPr>
          <p:nvPr/>
        </p:nvSpPr>
        <p:spPr>
          <a:xfrm>
            <a:off x="689610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01E"/>
                </a:solidFill>
                <a:latin typeface="Aptos"/>
                <a:ea typeface="Aptos"/>
                <a:cs typeface="Aptos"/>
              </a:rPr>
              <a:t>试点交易窗口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CB9C65-8185-47C0-9140-9F57E9A2CF45}"/>
              </a:ext>
            </a:extLst>
          </p:cNvPr>
          <p:cNvSpPr>
            <a:spLocks noGrp="1"/>
          </p:cNvSpPr>
          <p:nvPr/>
        </p:nvSpPr>
        <p:spPr>
          <a:xfrm>
            <a:off x="647700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5E655F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5E655F"/>
                </a:solidFill>
                <a:latin typeface="Aptos"/>
                <a:ea typeface="Aptos"/>
                <a:cs typeface="Aptos"/>
              </a:rPr>
              <a:t>在明确风险限制下运行，并提供周度报告与可审查推理。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64536-446A-472B-ACA5-D028515563A9}"/>
              </a:ext>
            </a:extLst>
          </p:cNvPr>
          <p:cNvSpPr>
            <a:spLocks noGrp="1"/>
          </p:cNvSpPr>
          <p:nvPr/>
        </p:nvSpPr>
        <p:spPr>
          <a:xfrm>
            <a:off x="8686800" y="3943350"/>
            <a:ext cx="476250" cy="28575"/>
          </a:xfrm>
          <a:prstGeom prst="rect">
            <a:avLst/>
          </a:prstGeom>
          <a:solidFill>
            <a:srgbClr val="B85C3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ECB38C-1EE7-4816-8A74-4A096E764020}"/>
              </a:ext>
            </a:extLst>
          </p:cNvPr>
          <p:cNvSpPr>
            <a:spLocks noGrp="1"/>
          </p:cNvSpPr>
          <p:nvPr/>
        </p:nvSpPr>
        <p:spPr>
          <a:xfrm>
            <a:off x="9048750" y="3143250"/>
            <a:ext cx="2286000" cy="1638300"/>
          </a:xfrm>
          <a:prstGeom prst="rect">
            <a:avLst/>
          </a:prstGeom>
          <a:solidFill>
            <a:srgbClr val="0D6B5E"/>
          </a:solidFill>
          <a:ln w="9525">
            <a:solidFill>
              <a:srgbClr val="0D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7F3D15-17AE-43A0-8BFE-C1619E2F14CE}"/>
              </a:ext>
            </a:extLst>
          </p:cNvPr>
          <p:cNvSpPr>
            <a:spLocks noGrp="1"/>
          </p:cNvSpPr>
          <p:nvPr/>
        </p:nvSpPr>
        <p:spPr>
          <a:xfrm>
            <a:off x="9239250" y="3333750"/>
            <a:ext cx="361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F4E7F7-E5A9-4FFA-A593-13851C57ECA5}"/>
              </a:ext>
            </a:extLst>
          </p:cNvPr>
          <p:cNvSpPr>
            <a:spLocks noGrp="1"/>
          </p:cNvSpPr>
          <p:nvPr/>
        </p:nvSpPr>
        <p:spPr>
          <a:xfrm>
            <a:off x="9658350" y="3371850"/>
            <a:ext cx="1409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机构决策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D9283D-CBFD-4604-B9CA-6FA582D606F4}"/>
              </a:ext>
            </a:extLst>
          </p:cNvPr>
          <p:cNvSpPr>
            <a:spLocks noGrp="1"/>
          </p:cNvSpPr>
          <p:nvPr/>
        </p:nvSpPr>
        <p:spPr>
          <a:xfrm>
            <a:off x="9239250" y="3867150"/>
            <a:ext cx="18859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05" b="0">
                <a:solidFill>
                  <a:srgbClr val="E9F5F1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E9F5F1"/>
                </a:solidFill>
                <a:latin typeface="Aptos"/>
                <a:ea typeface="Aptos"/>
                <a:cs typeface="Aptos"/>
              </a:rPr>
              <a:t>达标或复盘时：提款、利润留美、再投入或停止。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6F59F1-C930-4415-ACFA-953F580E42DE}"/>
              </a:ext>
            </a:extLst>
          </p:cNvPr>
          <p:cNvSpPr>
            <a:spLocks noGrp="1"/>
          </p:cNvSpPr>
          <p:nvPr/>
        </p:nvSpPr>
        <p:spPr>
          <a:xfrm>
            <a:off x="762000" y="5219700"/>
            <a:ext cx="7239000" cy="723900"/>
          </a:xfrm>
          <a:prstGeom prst="rect">
            <a:avLst/>
          </a:prstGeom>
          <a:solidFill>
            <a:srgbClr val="FFFDF7"/>
          </a:solidFill>
          <a:ln w="9525">
            <a:solidFill>
              <a:srgbClr val="D8D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EF49E4-B282-49C5-89D5-420636B4AF4D}"/>
              </a:ext>
            </a:extLst>
          </p:cNvPr>
          <p:cNvSpPr>
            <a:spLocks noGrp="1"/>
          </p:cNvSpPr>
          <p:nvPr/>
        </p:nvSpPr>
        <p:spPr>
          <a:xfrm>
            <a:off x="933450" y="5362575"/>
            <a:ext cx="689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0201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01E"/>
                </a:solidFill>
                <a:latin typeface="Aptos"/>
                <a:ea typeface="Aptos"/>
                <a:cs typeface="Aptos"/>
              </a:rPr>
              <a:t>建议的资金沟通顺序：先批准试点条款清单，再确认法律结构、托管、券商条款、可交易市场、报告机制与风险阈值。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FC3CF-8FC8-494A-8780-8F8963EE4656}"/>
              </a:ext>
            </a:extLst>
          </p:cNvPr>
          <p:cNvSpPr>
            <a:spLocks noGrp="1"/>
          </p:cNvSpPr>
          <p:nvPr/>
        </p:nvSpPr>
        <p:spPr>
          <a:xfrm>
            <a:off x="8572500" y="5219700"/>
            <a:ext cx="2381250" cy="876300"/>
          </a:xfrm>
          <a:prstGeom prst="rect">
            <a:avLst/>
          </a:prstGeom>
          <a:solidFill>
            <a:srgbClr val="10201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0C76A0-0414-4B3A-AF95-8A5CFD5B1847}"/>
              </a:ext>
            </a:extLst>
          </p:cNvPr>
          <p:cNvSpPr>
            <a:spLocks noGrp="1"/>
          </p:cNvSpPr>
          <p:nvPr/>
        </p:nvSpPr>
        <p:spPr>
          <a:xfrm>
            <a:off x="8801100" y="5381625"/>
            <a:ext cx="19240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B7D9C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D9CE"/>
                </a:solidFill>
                <a:latin typeface="Aptos"/>
                <a:ea typeface="Aptos"/>
                <a:cs typeface="Aptos"/>
              </a:rPr>
              <a:t>下一步决策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CB8F952-9955-4B03-8E01-6A5008E32B3C}"/>
              </a:ext>
            </a:extLst>
          </p:cNvPr>
          <p:cNvSpPr>
            <a:spLocks noGrp="1"/>
          </p:cNvSpPr>
          <p:nvPr/>
        </p:nvSpPr>
        <p:spPr>
          <a:xfrm>
            <a:off x="8820150" y="5638800"/>
            <a:ext cx="1885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批准试点授权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9464D2B-1FE3-45EF-A904-FF6E48D94318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38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资金条款仅作讨论结构；最终协议与合规审查为前置条件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20B39B-828F-4291-8E00-47518872093C}"/>
              </a:ext>
            </a:extLst>
          </p:cNvPr>
          <p:cNvSpPr>
            <a:spLocks noGrp="1"/>
          </p:cNvSpPr>
          <p:nvPr/>
        </p:nvSpPr>
        <p:spPr>
          <a:xfrm>
            <a:off x="11144250" y="6553200"/>
            <a:ext cx="438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8746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8746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466285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1756</TotalTime>
  <Words>342</Words>
  <Application>Microsoft Macintosh PowerPoint</Application>
  <DocSecurity>0</DocSecurity>
  <PresentationFormat>Widescreen</PresentationFormat>
  <Paragraphs>111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Ali, Elias</cp:lastModifiedBy>
  <cp:revision>2</cp:revision>
  <dcterms:created xsi:type="dcterms:W3CDTF">2026-05-22T08:16:05Z</dcterms:created>
  <dcterms:modified xsi:type="dcterms:W3CDTF">2026-05-23T13:47:07Z</dcterms:modified>
</cp:coreProperties>
</file>