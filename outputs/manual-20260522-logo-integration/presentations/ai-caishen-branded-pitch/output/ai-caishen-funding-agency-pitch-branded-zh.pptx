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342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5C42E56-D88C-416A-A5B7-47E31CDA52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BB8C5C-49EB-4FF6-BFEA-32F57972C51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1010900" cy="5829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E6C99-FC8F-4E2A-B03F-C1E58F2F68C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" cy="58293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B0502-D268-41A3-9C6F-850138231FBD}"/>
              </a:ext>
            </a:extLst>
          </p:cNvPr>
          <p:cNvSpPr>
            <a:spLocks noGrp="1"/>
          </p:cNvSpPr>
          <p:nvPr/>
        </p:nvSpPr>
        <p:spPr>
          <a:xfrm>
            <a:off x="1257300" y="21336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智能投研 · 透明风控 · 资金增值目标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8281-0729-415F-94E1-43DAB4E9B975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5619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面向资金机构的 AI 交易治理平台：用多智能体研究、可审计推理、风险闸门和券商执行连接资金、策略与报告。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0F4BA-CC60-4E63-BE73-10681C55F87C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2724150" cy="1085850"/>
          </a:xfrm>
          <a:prstGeom prst="rect">
            <a:avLst/>
          </a:prstGeom>
          <a:solidFill>
            <a:srgbClr val="F7F4EC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B98ADF-B3A0-4D1C-835D-2F0300CC7E9E}"/>
              </a:ext>
            </a:extLst>
          </p:cNvPr>
          <p:cNvSpPr>
            <a:spLocks noGrp="1"/>
          </p:cNvSpPr>
          <p:nvPr/>
        </p:nvSpPr>
        <p:spPr>
          <a:xfrm>
            <a:off x="1447800" y="4572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品牌角色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8ADF3-E6B6-4F12-AF99-026FCE6FBF70}"/>
              </a:ext>
            </a:extLst>
          </p:cNvPr>
          <p:cNvSpPr>
            <a:spLocks noGrp="1"/>
          </p:cNvSpPr>
          <p:nvPr/>
        </p:nvSpPr>
        <p:spPr>
          <a:xfrm>
            <a:off x="1447800" y="4857750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面向资金机构的</a:t>
            </a:r>
          </a:p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AI 交易治理平台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E57B3-CA85-4F7E-900C-DA29260B34B0}"/>
              </a:ext>
            </a:extLst>
          </p:cNvPr>
          <p:cNvSpPr>
            <a:spLocks noGrp="1"/>
          </p:cNvSpPr>
          <p:nvPr/>
        </p:nvSpPr>
        <p:spPr>
          <a:xfrm>
            <a:off x="4400550" y="4362450"/>
            <a:ext cx="2724150" cy="1085850"/>
          </a:xfrm>
          <a:prstGeom prst="rect">
            <a:avLst/>
          </a:prstGeom>
          <a:solidFill>
            <a:srgbClr val="DCECE6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BAB15-BE34-4DB8-955C-ED7BA1F46AD4}"/>
              </a:ext>
            </a:extLst>
          </p:cNvPr>
          <p:cNvSpPr>
            <a:spLocks noGrp="1"/>
          </p:cNvSpPr>
          <p:nvPr/>
        </p:nvSpPr>
        <p:spPr>
          <a:xfrm>
            <a:off x="4591050" y="4572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核心承诺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C1EF9D-CABA-454F-8C9E-A8BAACD6A033}"/>
              </a:ext>
            </a:extLst>
          </p:cNvPr>
          <p:cNvSpPr>
            <a:spLocks noGrp="1"/>
          </p:cNvSpPr>
          <p:nvPr/>
        </p:nvSpPr>
        <p:spPr>
          <a:xfrm>
            <a:off x="4591050" y="4857750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不做黑箱承诺；强调</a:t>
            </a:r>
          </a:p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透明、风控与目标管理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D30197-D714-4F6C-B697-BE60CD9F1E60}"/>
              </a:ext>
            </a:extLst>
          </p:cNvPr>
          <p:cNvSpPr>
            <a:spLocks noGrp="1"/>
          </p:cNvSpPr>
          <p:nvPr/>
        </p:nvSpPr>
        <p:spPr>
          <a:xfrm>
            <a:off x="7543800" y="4362450"/>
            <a:ext cx="2724150" cy="1085850"/>
          </a:xfrm>
          <a:prstGeom prst="rect">
            <a:avLst/>
          </a:prstGeom>
          <a:solidFill>
            <a:srgbClr val="F7F4EC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5C0DA-89EC-4A71-BD4A-A48A510A9FB0}"/>
              </a:ext>
            </a:extLst>
          </p:cNvPr>
          <p:cNvSpPr>
            <a:spLocks noGrp="1"/>
          </p:cNvSpPr>
          <p:nvPr/>
        </p:nvSpPr>
        <p:spPr>
          <a:xfrm>
            <a:off x="7734300" y="4572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视觉系统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0D7364-472A-42BF-85A2-5B51A2EF4294}"/>
              </a:ext>
            </a:extLst>
          </p:cNvPr>
          <p:cNvSpPr>
            <a:spLocks noGrp="1"/>
          </p:cNvSpPr>
          <p:nvPr/>
        </p:nvSpPr>
        <p:spPr>
          <a:xfrm>
            <a:off x="7734300" y="4857750"/>
            <a:ext cx="2247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黑金稳重，绿色表达</a:t>
            </a:r>
          </a:p>
          <a:p>
            <a:pPr algn="l">
              <a:defRPr sz="1238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科技、增长与纪律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6950C3-3719-4F19-93C9-C092D5020AF7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67EA3E0-4153-3949-A6D5-4113F258D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450" y="381000"/>
            <a:ext cx="2286000" cy="2286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E5E4C99-89F1-41C7-2A42-69528245C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53" y="553107"/>
            <a:ext cx="5139558" cy="171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6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9317C73-A34E-4CC7-97F6-A4E94DFAD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91859DD5-6B11-4FEB-9F0B-DDF84A94959A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05EEA3EB-A89A-4F45-A99E-D3B9FFD100BB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资金机构推介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F37E3-C97F-4737-8241-62BFC3AF1A3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620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资金可以进入受治理的 AI 交易项目，而不是进入黑箱。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8F82CE-881C-4D1E-9141-E7E70B0B229E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6667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AI财神将多智能体市场研究、透明推理、券商执行与风险控制封装为面向资金机构的管理型资本项目。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460F9-0ACD-45E8-AAE1-83D656A003DE}"/>
              </a:ext>
            </a:extLst>
          </p:cNvPr>
          <p:cNvSpPr>
            <a:spLocks noGrp="1"/>
          </p:cNvSpPr>
          <p:nvPr/>
        </p:nvSpPr>
        <p:spPr>
          <a:xfrm>
            <a:off x="8648700" y="1314450"/>
            <a:ext cx="2266950" cy="1638300"/>
          </a:xfrm>
          <a:prstGeom prst="rect">
            <a:avLst/>
          </a:prstGeom>
          <a:solidFill>
            <a:srgbClr val="050505"/>
          </a:solidFill>
          <a:ln w="9525">
            <a:solidFill>
              <a:srgbClr val="C99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263FA2-4766-4A10-AC41-3A4A2B6D48DD}"/>
              </a:ext>
            </a:extLst>
          </p:cNvPr>
          <p:cNvSpPr>
            <a:spLocks noGrp="1"/>
          </p:cNvSpPr>
          <p:nvPr/>
        </p:nvSpPr>
        <p:spPr>
          <a:xfrm>
            <a:off x="8858250" y="1504950"/>
            <a:ext cx="18478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目标制</a:t>
            </a:r>
          </a:p>
          <a:p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资金路径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283576-3AC5-4ECB-9993-80B5552EBB5A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88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88" b="0" dirty="0" err="1">
                <a:solidFill>
                  <a:srgbClr val="E8F5EF"/>
                </a:solidFill>
                <a:latin typeface="Aptos"/>
                <a:ea typeface="Aptos"/>
                <a:cs typeface="Aptos"/>
              </a:rPr>
              <a:t>资金进入</a:t>
            </a:r>
            <a:r>
              <a:rPr sz="1088" b="0" dirty="0">
                <a:solidFill>
                  <a:srgbClr val="E8F5EF"/>
                </a:solidFill>
                <a:latin typeface="Aptos"/>
                <a:ea typeface="Aptos"/>
                <a:cs typeface="Aptos"/>
              </a:rPr>
              <a:t> -&gt; </a:t>
            </a:r>
            <a:r>
              <a:rPr sz="1088" b="0" dirty="0" err="1">
                <a:solidFill>
                  <a:srgbClr val="E8F5EF"/>
                </a:solidFill>
                <a:latin typeface="Aptos"/>
                <a:ea typeface="Aptos"/>
                <a:cs typeface="Aptos"/>
              </a:rPr>
              <a:t>治理交易</a:t>
            </a:r>
            <a:endParaRPr sz="1088" b="0" dirty="0">
              <a:solidFill>
                <a:srgbClr val="E8F5EF"/>
              </a:solidFill>
              <a:latin typeface="Aptos"/>
              <a:ea typeface="Aptos"/>
              <a:cs typeface="Aptos"/>
            </a:endParaRPr>
          </a:p>
          <a:p>
            <a:pPr algn="ctr">
              <a:defRPr sz="1088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E8F5EF"/>
                </a:solidFill>
                <a:latin typeface="Aptos"/>
                <a:ea typeface="Aptos"/>
                <a:cs typeface="Aptos"/>
              </a:rPr>
              <a:t>-&gt; </a:t>
            </a:r>
            <a:r>
              <a:rPr sz="1088" b="0" dirty="0" err="1">
                <a:solidFill>
                  <a:srgbClr val="E8F5EF"/>
                </a:solidFill>
                <a:latin typeface="Aptos"/>
                <a:ea typeface="Aptos"/>
                <a:cs typeface="Aptos"/>
              </a:rPr>
              <a:t>达标后选择退出</a:t>
            </a:r>
            <a:endParaRPr sz="1088" b="0" dirty="0">
              <a:solidFill>
                <a:srgbClr val="E8F5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77BE6-B869-447C-B0CF-F48C723A884A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D15DBF-6468-4CE7-A220-DD3FE6D5663A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F7E9D-D8CA-42F8-B884-0DCA509CDEEE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05278E-4720-44B2-8969-DA6C45BA2881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机构存入资金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943023-3F4F-4465-B0AF-B1181A1F7DA2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资金按照明确授权、报告节奏和风险边界进入项目。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C54BD0-603F-4EA6-BD83-6E9C388C8262}"/>
              </a:ext>
            </a:extLst>
          </p:cNvPr>
          <p:cNvSpPr>
            <a:spLocks noGrp="1"/>
          </p:cNvSpPr>
          <p:nvPr/>
        </p:nvSpPr>
        <p:spPr>
          <a:xfrm>
            <a:off x="4524375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A7C795-B553-42DD-83CB-95C2B9479625}"/>
              </a:ext>
            </a:extLst>
          </p:cNvPr>
          <p:cNvSpPr>
            <a:spLocks noGrp="1"/>
          </p:cNvSpPr>
          <p:nvPr/>
        </p:nvSpPr>
        <p:spPr>
          <a:xfrm>
            <a:off x="4524375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12C411-A0EF-47D1-ABF2-25C249C4E32C}"/>
              </a:ext>
            </a:extLst>
          </p:cNvPr>
          <p:cNvSpPr>
            <a:spLocks noGrp="1"/>
          </p:cNvSpPr>
          <p:nvPr/>
        </p:nvSpPr>
        <p:spPr>
          <a:xfrm>
            <a:off x="4714875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A621-0174-4C56-9316-08BD45B6C1F4}"/>
              </a:ext>
            </a:extLst>
          </p:cNvPr>
          <p:cNvSpPr>
            <a:spLocks noGrp="1"/>
          </p:cNvSpPr>
          <p:nvPr/>
        </p:nvSpPr>
        <p:spPr>
          <a:xfrm>
            <a:off x="5153025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AI 智能体受控运行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1673C7-7ABC-406A-B6FC-CDAF77C6D720}"/>
              </a:ext>
            </a:extLst>
          </p:cNvPr>
          <p:cNvSpPr>
            <a:spLocks noGrp="1"/>
          </p:cNvSpPr>
          <p:nvPr/>
        </p:nvSpPr>
        <p:spPr>
          <a:xfrm>
            <a:off x="5153025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分析、研究、交易与风控团队生成可审计建议。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1882A5-CFA4-4547-BE52-F238D115595A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7A25F7-209C-4746-8D88-02EBA7241AC4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17D901-81A0-40AF-B2D9-D22BBDFCA59A}"/>
              </a:ext>
            </a:extLst>
          </p:cNvPr>
          <p:cNvSpPr>
            <a:spLocks noGrp="1"/>
          </p:cNvSpPr>
          <p:nvPr/>
        </p:nvSpPr>
        <p:spPr>
          <a:xfrm>
            <a:off x="8629650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26B327-3C40-4A51-BA49-16567EAC0EC4}"/>
              </a:ext>
            </a:extLst>
          </p:cNvPr>
          <p:cNvSpPr>
            <a:spLocks noGrp="1"/>
          </p:cNvSpPr>
          <p:nvPr/>
        </p:nvSpPr>
        <p:spPr>
          <a:xfrm>
            <a:off x="9067800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达标后按规则选择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587E53-D19C-4084-B2EC-9BB1A12FAF56}"/>
              </a:ext>
            </a:extLst>
          </p:cNvPr>
          <p:cNvSpPr>
            <a:spLocks noGrp="1"/>
          </p:cNvSpPr>
          <p:nvPr/>
        </p:nvSpPr>
        <p:spPr>
          <a:xfrm>
            <a:off x="9067800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达到 2x 资金目标后，可按协议提款或将利润留在美国。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DD4DB2-7DD8-48B5-BF81-DBAE449EEEFE}"/>
              </a:ext>
            </a:extLst>
          </p:cNvPr>
          <p:cNvSpPr>
            <a:spLocks noGrp="1"/>
          </p:cNvSpPr>
          <p:nvPr/>
        </p:nvSpPr>
        <p:spPr>
          <a:xfrm>
            <a:off x="3905250" y="436245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4F1310-9966-446B-B643-C148834FDAFC}"/>
              </a:ext>
            </a:extLst>
          </p:cNvPr>
          <p:cNvSpPr>
            <a:spLocks noGrp="1"/>
          </p:cNvSpPr>
          <p:nvPr/>
        </p:nvSpPr>
        <p:spPr>
          <a:xfrm>
            <a:off x="7820025" y="436245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167157-E0B4-4695-9902-1A041AB6F296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286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816DCE-5B7B-476D-B3E9-B4B78FF5D15F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10629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表述边界：本页将“资金翻倍”定义为目标情景，并非收益保证。最终条款需经过法律、券商与合规审查。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48CF6E-903E-446F-A426-61A9806EFF3D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66D2B2-EF92-2EF8-7B8C-EA4810E14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157163"/>
            <a:ext cx="10858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1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A79A23E-15A1-42E4-B8D1-E579E54F03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E1FEFCD7-7AD6-4B13-ACB4-805740F5762F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532D09AE-9BC2-41D2-B14D-B0957CB7F8D5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产品系统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8B0937-EF90-44C3-A38F-AC8FD23FEB1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6572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AI财神把市场不确定性转化为可审计的交易决策。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1C1D8-A8F1-4CB9-98AD-6B9B8E880694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647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系统将市场数据、智能体辩论、交易建议、人工批准、风控闸门与券商执行串成一条可复盘链路。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2B406-89B6-440B-B8FF-44DA2C2890B5}"/>
              </a:ext>
            </a:extLst>
          </p:cNvPr>
          <p:cNvSpPr>
            <a:spLocks noGrp="1"/>
          </p:cNvSpPr>
          <p:nvPr/>
        </p:nvSpPr>
        <p:spPr>
          <a:xfrm>
            <a:off x="7496175" y="1162050"/>
            <a:ext cx="8763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75D638-AC03-453C-A80C-A6EC2B71A398}"/>
              </a:ext>
            </a:extLst>
          </p:cNvPr>
          <p:cNvSpPr>
            <a:spLocks noGrp="1"/>
          </p:cNvSpPr>
          <p:nvPr/>
        </p:nvSpPr>
        <p:spPr>
          <a:xfrm>
            <a:off x="7591425" y="13525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研究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D8FF96-3612-4994-95D5-3DF4E6943833}"/>
              </a:ext>
            </a:extLst>
          </p:cNvPr>
          <p:cNvSpPr>
            <a:spLocks noGrp="1"/>
          </p:cNvSpPr>
          <p:nvPr/>
        </p:nvSpPr>
        <p:spPr>
          <a:xfrm>
            <a:off x="7572375" y="165735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1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基本面、新闻、情绪、技术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B43E2B-9D08-4471-995E-26B87A882C64}"/>
              </a:ext>
            </a:extLst>
          </p:cNvPr>
          <p:cNvSpPr>
            <a:spLocks noGrp="1"/>
          </p:cNvSpPr>
          <p:nvPr/>
        </p:nvSpPr>
        <p:spPr>
          <a:xfrm>
            <a:off x="8496300" y="1162050"/>
            <a:ext cx="8763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429DEB-1C18-4130-AB50-EF8EF326676B}"/>
              </a:ext>
            </a:extLst>
          </p:cNvPr>
          <p:cNvSpPr>
            <a:spLocks noGrp="1"/>
          </p:cNvSpPr>
          <p:nvPr/>
        </p:nvSpPr>
        <p:spPr>
          <a:xfrm>
            <a:off x="8591550" y="13525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辩论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C821F-E841-43D7-BBF3-A2689D78DB02}"/>
              </a:ext>
            </a:extLst>
          </p:cNvPr>
          <p:cNvSpPr>
            <a:spLocks noGrp="1"/>
          </p:cNvSpPr>
          <p:nvPr/>
        </p:nvSpPr>
        <p:spPr>
          <a:xfrm>
            <a:off x="8572500" y="165735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1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多空观点被记录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E29C1F-4D0A-4229-B512-3CBDE769621A}"/>
              </a:ext>
            </a:extLst>
          </p:cNvPr>
          <p:cNvSpPr>
            <a:spLocks noGrp="1"/>
          </p:cNvSpPr>
          <p:nvPr/>
        </p:nvSpPr>
        <p:spPr>
          <a:xfrm>
            <a:off x="9496425" y="1162050"/>
            <a:ext cx="876300" cy="876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C21FA9-3DE1-401E-9BFF-EF9114422D6C}"/>
              </a:ext>
            </a:extLst>
          </p:cNvPr>
          <p:cNvSpPr>
            <a:spLocks noGrp="1"/>
          </p:cNvSpPr>
          <p:nvPr/>
        </p:nvSpPr>
        <p:spPr>
          <a:xfrm>
            <a:off x="9591675" y="13525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决策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0A2DF4-6188-48D5-A7B6-B3B94285013D}"/>
              </a:ext>
            </a:extLst>
          </p:cNvPr>
          <p:cNvSpPr>
            <a:spLocks noGrp="1"/>
          </p:cNvSpPr>
          <p:nvPr/>
        </p:nvSpPr>
        <p:spPr>
          <a:xfrm>
            <a:off x="9572625" y="165735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1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交易建议与理由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70A116-E2AF-494D-8C1C-7E302BC0271E}"/>
              </a:ext>
            </a:extLst>
          </p:cNvPr>
          <p:cNvSpPr>
            <a:spLocks noGrp="1"/>
          </p:cNvSpPr>
          <p:nvPr/>
        </p:nvSpPr>
        <p:spPr>
          <a:xfrm>
            <a:off x="10496550" y="1162050"/>
            <a:ext cx="876300" cy="8763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2A94F4-2AA8-484D-AD8F-7B3ED5A5346C}"/>
              </a:ext>
            </a:extLst>
          </p:cNvPr>
          <p:cNvSpPr>
            <a:spLocks noGrp="1"/>
          </p:cNvSpPr>
          <p:nvPr/>
        </p:nvSpPr>
        <p:spPr>
          <a:xfrm>
            <a:off x="10591800" y="13525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FA8BE7-7B70-418D-8839-257CB027CF0F}"/>
              </a:ext>
            </a:extLst>
          </p:cNvPr>
          <p:cNvSpPr>
            <a:spLocks noGrp="1"/>
          </p:cNvSpPr>
          <p:nvPr/>
        </p:nvSpPr>
        <p:spPr>
          <a:xfrm>
            <a:off x="10572750" y="1657350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10" b="0">
                <a:solidFill>
                  <a:srgbClr val="E4F3E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E4F3EE"/>
                </a:solidFill>
                <a:latin typeface="Aptos"/>
                <a:ea typeface="Aptos"/>
                <a:cs typeface="Aptos"/>
              </a:rPr>
              <a:t>风控与组合批准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4070" y="2990850"/>
            <a:ext cx="7843860" cy="23622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5156B1B-62A0-4935-8AE9-7B15E8DC7399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728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B4F575-F7C7-40B8-A1DF-EBFD768AE663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对资金方的价值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04395F-A0D5-4946-AC6A-9FE51FA5957A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28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资金不是依赖不可解释模型输出；每一次建议都可追溯输入、推理、风控检查与执行记录。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CFD541-A4FC-4FA1-8192-2AD8DC29F65F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7175D-4B3B-3451-1A7E-FAD8956EE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76199"/>
            <a:ext cx="876301" cy="87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3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B705C8E-3FDE-4CA0-B121-B2E15E7E0C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B743FFA9-866A-4575-8BC9-416110CA914A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2329D81B-95AE-4C8E-9419-03A3A5679EBE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商业模型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73F10-7F10-4197-A2DF-3112D4CB108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资金机构从存入资金到目标制退出，有清晰路径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FB1CD-9BAB-435C-817D-BE454C30C623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商业模型强调结构：资金进入、可审计交易、绩效报告，以及达到目标阈值后的预先约定选择。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25C62-533B-4E71-A32E-3C1D768A0B63}"/>
              </a:ext>
            </a:extLst>
          </p:cNvPr>
          <p:cNvSpPr>
            <a:spLocks noGrp="1"/>
          </p:cNvSpPr>
          <p:nvPr/>
        </p:nvSpPr>
        <p:spPr>
          <a:xfrm>
            <a:off x="1552575" y="3721647"/>
            <a:ext cx="3143250" cy="55245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7B774-AB51-4C27-83E5-F1837F1DAFCD}"/>
              </a:ext>
            </a:extLst>
          </p:cNvPr>
          <p:cNvSpPr>
            <a:spLocks noGrp="1"/>
          </p:cNvSpPr>
          <p:nvPr/>
        </p:nvSpPr>
        <p:spPr>
          <a:xfrm>
            <a:off x="1724025" y="3874047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初始机构资金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DE441-EA74-4FBC-87CC-D32B4F54CA1E}"/>
              </a:ext>
            </a:extLst>
          </p:cNvPr>
          <p:cNvSpPr>
            <a:spLocks noGrp="1"/>
          </p:cNvSpPr>
          <p:nvPr/>
        </p:nvSpPr>
        <p:spPr>
          <a:xfrm>
            <a:off x="4886325" y="3874047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1.0x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BC0DD-398F-44DA-A6C2-19BE0BA8B92B}"/>
              </a:ext>
            </a:extLst>
          </p:cNvPr>
          <p:cNvSpPr>
            <a:spLocks noGrp="1"/>
          </p:cNvSpPr>
          <p:nvPr/>
        </p:nvSpPr>
        <p:spPr>
          <a:xfrm>
            <a:off x="1552575" y="3035847"/>
            <a:ext cx="3143250" cy="552450"/>
          </a:xfrm>
          <a:prstGeom prst="rect">
            <a:avLst/>
          </a:prstGeom>
          <a:solidFill>
            <a:srgbClr val="C99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8B4139-3C51-4C81-9518-A123BD62166A}"/>
              </a:ext>
            </a:extLst>
          </p:cNvPr>
          <p:cNvSpPr>
            <a:spLocks noGrp="1"/>
          </p:cNvSpPr>
          <p:nvPr/>
        </p:nvSpPr>
        <p:spPr>
          <a:xfrm>
            <a:off x="1724025" y="3188247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目标利润层</a:t>
            </a:r>
            <a:endParaRPr sz="142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419029-94B1-4A69-B44F-7C0F2D795B1E}"/>
              </a:ext>
            </a:extLst>
          </p:cNvPr>
          <p:cNvSpPr>
            <a:spLocks noGrp="1"/>
          </p:cNvSpPr>
          <p:nvPr/>
        </p:nvSpPr>
        <p:spPr>
          <a:xfrm>
            <a:off x="4886325" y="3188247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+1.0x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88AA0B-6349-4997-8438-EFEA2A64E54F}"/>
              </a:ext>
            </a:extLst>
          </p:cNvPr>
          <p:cNvSpPr>
            <a:spLocks noGrp="1"/>
          </p:cNvSpPr>
          <p:nvPr/>
        </p:nvSpPr>
        <p:spPr>
          <a:xfrm>
            <a:off x="1476375" y="2940597"/>
            <a:ext cx="57150" cy="142875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98132B-1B48-4111-9D0C-059FCFDDAFD3}"/>
              </a:ext>
            </a:extLst>
          </p:cNvPr>
          <p:cNvSpPr>
            <a:spLocks noGrp="1"/>
          </p:cNvSpPr>
          <p:nvPr/>
        </p:nvSpPr>
        <p:spPr>
          <a:xfrm>
            <a:off x="819150" y="3588297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201E"/>
                </a:solidFill>
                <a:latin typeface="Aptos"/>
                <a:ea typeface="Aptos"/>
                <a:cs typeface="Aptos"/>
              </a:rPr>
              <a:t>2x </a:t>
            </a:r>
            <a:r>
              <a:rPr sz="1050" b="1" dirty="0" err="1">
                <a:solidFill>
                  <a:srgbClr val="10201E"/>
                </a:solidFill>
                <a:latin typeface="Aptos"/>
                <a:ea typeface="Aptos"/>
                <a:cs typeface="Aptos"/>
              </a:rPr>
              <a:t>目标</a:t>
            </a:r>
            <a:endParaRPr sz="1050" b="1" dirty="0">
              <a:solidFill>
                <a:srgbClr val="10201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FE99DA-84FF-4A61-9D0C-D701809F987D}"/>
              </a:ext>
            </a:extLst>
          </p:cNvPr>
          <p:cNvSpPr>
            <a:spLocks noGrp="1"/>
          </p:cNvSpPr>
          <p:nvPr/>
        </p:nvSpPr>
        <p:spPr>
          <a:xfrm>
            <a:off x="538162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D818E8-2847-473B-8D18-6A40EA29C237}"/>
              </a:ext>
            </a:extLst>
          </p:cNvPr>
          <p:cNvSpPr>
            <a:spLocks noGrp="1"/>
          </p:cNvSpPr>
          <p:nvPr/>
        </p:nvSpPr>
        <p:spPr>
          <a:xfrm>
            <a:off x="5553075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提取资金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D3EB9D-AF7B-4D01-9B48-0C094065695B}"/>
              </a:ext>
            </a:extLst>
          </p:cNvPr>
          <p:cNvSpPr>
            <a:spLocks noGrp="1"/>
          </p:cNvSpPr>
          <p:nvPr/>
        </p:nvSpPr>
        <p:spPr>
          <a:xfrm>
            <a:off x="5553075" y="3505200"/>
            <a:ext cx="1488856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 dirty="0" err="1">
                <a:solidFill>
                  <a:srgbClr val="5E655F"/>
                </a:solidFill>
                <a:latin typeface="Aptos"/>
                <a:ea typeface="Aptos"/>
                <a:cs typeface="Aptos"/>
              </a:rPr>
              <a:t>达到协议定义目标后，机构可按协议退出</a:t>
            </a:r>
            <a:r>
              <a:rPr sz="1125" b="0" dirty="0">
                <a:solidFill>
                  <a:srgbClr val="5E655F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529E8A-2E2D-4D4F-B5B7-592A896B47F8}"/>
              </a:ext>
            </a:extLst>
          </p:cNvPr>
          <p:cNvSpPr>
            <a:spLocks noGrp="1"/>
          </p:cNvSpPr>
          <p:nvPr/>
        </p:nvSpPr>
        <p:spPr>
          <a:xfrm>
            <a:off x="7429500" y="2686050"/>
            <a:ext cx="1762125" cy="1733550"/>
          </a:xfrm>
          <a:prstGeom prst="rect">
            <a:avLst/>
          </a:prstGeom>
          <a:solidFill>
            <a:srgbClr val="DCECE6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E404FA-31F4-4B93-BA5E-41D5358BE93D}"/>
              </a:ext>
            </a:extLst>
          </p:cNvPr>
          <p:cNvSpPr>
            <a:spLocks noGrp="1"/>
          </p:cNvSpPr>
          <p:nvPr/>
        </p:nvSpPr>
        <p:spPr>
          <a:xfrm>
            <a:off x="7600950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利润留在美国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2AA32-6706-438A-B739-70340C01E15E}"/>
              </a:ext>
            </a:extLst>
          </p:cNvPr>
          <p:cNvSpPr>
            <a:spLocks noGrp="1"/>
          </p:cNvSpPr>
          <p:nvPr/>
        </p:nvSpPr>
        <p:spPr>
          <a:xfrm>
            <a:off x="7600950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机构可选择把利润留在美国结构中继续参与。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62C790-D198-44A9-BAB6-4DF78EB19258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7A5FEE-F14E-45FA-A6C5-722703294E1D}"/>
              </a:ext>
            </a:extLst>
          </p:cNvPr>
          <p:cNvSpPr>
            <a:spLocks noGrp="1"/>
          </p:cNvSpPr>
          <p:nvPr/>
        </p:nvSpPr>
        <p:spPr>
          <a:xfrm>
            <a:off x="9648825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新授权再投入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88A8EC-269D-4247-99F4-8A61DB5CD588}"/>
              </a:ext>
            </a:extLst>
          </p:cNvPr>
          <p:cNvSpPr>
            <a:spLocks noGrp="1"/>
          </p:cNvSpPr>
          <p:nvPr/>
        </p:nvSpPr>
        <p:spPr>
          <a:xfrm>
            <a:off x="9648825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重新定义目标、限制与报告机制后继续运行。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5FD573-DF3C-4EC8-9BDF-C357C8E04D77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需确认的商业条款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89673A-CAB3-44A3-8088-F85DF51AF200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资金规模 | 托管/券商安排 | 提款机制 | 利润处理 | 司法辖区 | 风险限制 | 报告频率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6F29FD-63F1-48A2-8AD1-D0960B312F6B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4BF94DC-9CF2-E7C8-3295-B291B3D7C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76199"/>
            <a:ext cx="876301" cy="87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00759964-9D83-41BD-B861-8966E9853B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ACB3DC21-E837-4B59-BEA6-3B7DCC804264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B24E52D3-1818-416A-8D78-FC530F98297E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风险控制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FF315-CA87-4196-B199-C1EB57256FC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620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风险控制在交易执行前发生，而不是在亏损后补救。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31F91-21C9-41A9-85A6-6F09162DC6BB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资金机构需要的是治理能力，而不只是收益叙事。平台围绕智能体流程暴露审批、限额、执行状态与审计记录。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300826"/>
            <a:ext cx="2781300" cy="8273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58F7AA-0BA2-4368-8749-99CAC18A467D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190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089A9-A827-4CC8-A733-B8DE275D0466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2EA574-23F3-4E15-A9E3-A87F5185C578}"/>
              </a:ext>
            </a:extLst>
          </p:cNvPr>
          <p:cNvSpPr>
            <a:spLocks noGrp="1"/>
          </p:cNvSpPr>
          <p:nvPr/>
        </p:nvSpPr>
        <p:spPr>
          <a:xfrm>
            <a:off x="2971800" y="2895600"/>
            <a:ext cx="2952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B5BFB-ED33-4A50-B359-AE16D0CB2C41}"/>
              </a:ext>
            </a:extLst>
          </p:cNvPr>
          <p:cNvSpPr>
            <a:spLocks noGrp="1"/>
          </p:cNvSpPr>
          <p:nvPr/>
        </p:nvSpPr>
        <p:spPr>
          <a:xfrm>
            <a:off x="3105150" y="3000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资金方价值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FC7521-4FCC-4D4D-95E4-D7757C4A9BD7}"/>
              </a:ext>
            </a:extLst>
          </p:cNvPr>
          <p:cNvSpPr>
            <a:spLocks noGrp="1"/>
          </p:cNvSpPr>
          <p:nvPr/>
        </p:nvSpPr>
        <p:spPr>
          <a:xfrm>
            <a:off x="5924550" y="2895600"/>
            <a:ext cx="495300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B31961-96FC-4A2D-AB1D-2C6DB3914124}"/>
              </a:ext>
            </a:extLst>
          </p:cNvPr>
          <p:cNvSpPr>
            <a:spLocks noGrp="1"/>
          </p:cNvSpPr>
          <p:nvPr/>
        </p:nvSpPr>
        <p:spPr>
          <a:xfrm>
            <a:off x="6057900" y="3000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平台机制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EE655C-827D-4A32-BA35-0C8CDC6C4A01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0BB024-CE8B-4CD9-9A28-18B6ABD4B60F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交易前复核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3C203D-AE6E-4063-840A-7A8875CACAD1}"/>
              </a:ext>
            </a:extLst>
          </p:cNvPr>
          <p:cNvSpPr>
            <a:spLocks noGrp="1"/>
          </p:cNvSpPr>
          <p:nvPr/>
        </p:nvSpPr>
        <p:spPr>
          <a:xfrm>
            <a:off x="2971800" y="33528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C525D2-CCE2-49FA-A5D8-EC2A76DD3A20}"/>
              </a:ext>
            </a:extLst>
          </p:cNvPr>
          <p:cNvSpPr>
            <a:spLocks noGrp="1"/>
          </p:cNvSpPr>
          <p:nvPr/>
        </p:nvSpPr>
        <p:spPr>
          <a:xfrm>
            <a:off x="3105150" y="34575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避免盲目自动化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F82EDA-E9B8-466B-B5D8-D108F14E5B8D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177016-D9E2-447C-ADBB-24D1CB0BE54E}"/>
              </a:ext>
            </a:extLst>
          </p:cNvPr>
          <p:cNvSpPr>
            <a:spLocks noGrp="1"/>
          </p:cNvSpPr>
          <p:nvPr/>
        </p:nvSpPr>
        <p:spPr>
          <a:xfrm>
            <a:off x="6057900" y="34575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对推荐交易进行人工批准/拒绝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B61969-186C-48C3-8BA4-6C2573315406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AE6C6A-AD69-4F83-9AF6-597B21F9A1C6}"/>
              </a:ext>
            </a:extLst>
          </p:cNvPr>
          <p:cNvSpPr>
            <a:spLocks noGrp="1"/>
          </p:cNvSpPr>
          <p:nvPr/>
        </p:nvSpPr>
        <p:spPr>
          <a:xfrm>
            <a:off x="914400" y="39147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风险限额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011D39-FA8A-4213-AD6C-E653705B088B}"/>
              </a:ext>
            </a:extLst>
          </p:cNvPr>
          <p:cNvSpPr>
            <a:spLocks noGrp="1"/>
          </p:cNvSpPr>
          <p:nvPr/>
        </p:nvSpPr>
        <p:spPr>
          <a:xfrm>
            <a:off x="2971800" y="38100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583C37-D8C0-40D0-B8F3-62E9A56BE5C0}"/>
              </a:ext>
            </a:extLst>
          </p:cNvPr>
          <p:cNvSpPr>
            <a:spLocks noGrp="1"/>
          </p:cNvSpPr>
          <p:nvPr/>
        </p:nvSpPr>
        <p:spPr>
          <a:xfrm>
            <a:off x="3105150" y="39147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执行前限制敞口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B68412-AE8F-44F9-8B0E-3AA5D9D2033D}"/>
              </a:ext>
            </a:extLst>
          </p:cNvPr>
          <p:cNvSpPr>
            <a:spLocks noGrp="1"/>
          </p:cNvSpPr>
          <p:nvPr/>
        </p:nvSpPr>
        <p:spPr>
          <a:xfrm>
            <a:off x="5924550" y="38100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670E44-8E84-496E-B3DC-2C8E9493C362}"/>
              </a:ext>
            </a:extLst>
          </p:cNvPr>
          <p:cNvSpPr>
            <a:spLocks noGrp="1"/>
          </p:cNvSpPr>
          <p:nvPr/>
        </p:nvSpPr>
        <p:spPr>
          <a:xfrm>
            <a:off x="6057900" y="39147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持仓、订单与策略限制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B75422-3F0D-4984-899E-1B5F700DB6D4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A74CAF-2CEC-40C6-8314-88F7FD40392E}"/>
              </a:ext>
            </a:extLst>
          </p:cNvPr>
          <p:cNvSpPr>
            <a:spLocks noGrp="1"/>
          </p:cNvSpPr>
          <p:nvPr/>
        </p:nvSpPr>
        <p:spPr>
          <a:xfrm>
            <a:off x="914400" y="43719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券商凭证安全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12FC33-3071-4E0D-8B94-8A7BEBF269EF}"/>
              </a:ext>
            </a:extLst>
          </p:cNvPr>
          <p:cNvSpPr>
            <a:spLocks noGrp="1"/>
          </p:cNvSpPr>
          <p:nvPr/>
        </p:nvSpPr>
        <p:spPr>
          <a:xfrm>
            <a:off x="2971800" y="42672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5CE7DB-3FB5-442B-A15E-89401AB5344E}"/>
              </a:ext>
            </a:extLst>
          </p:cNvPr>
          <p:cNvSpPr>
            <a:spLocks noGrp="1"/>
          </p:cNvSpPr>
          <p:nvPr/>
        </p:nvSpPr>
        <p:spPr>
          <a:xfrm>
            <a:off x="3105150" y="43719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保护账户访问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2E220D-19F7-4E7B-A18C-5422A6617DF6}"/>
              </a:ext>
            </a:extLst>
          </p:cNvPr>
          <p:cNvSpPr>
            <a:spLocks noGrp="1"/>
          </p:cNvSpPr>
          <p:nvPr/>
        </p:nvSpPr>
        <p:spPr>
          <a:xfrm>
            <a:off x="5924550" y="42672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2591E5-ECFD-476B-AD99-3246FA58DF78}"/>
              </a:ext>
            </a:extLst>
          </p:cNvPr>
          <p:cNvSpPr>
            <a:spLocks noGrp="1"/>
          </p:cNvSpPr>
          <p:nvPr/>
        </p:nvSpPr>
        <p:spPr>
          <a:xfrm>
            <a:off x="6057900" y="43719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安全密钥存储与令牌认证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608801-ECEC-4A0C-B233-B4E2250B0E93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C42B0C-9AEC-4566-94EE-03C812756680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审计轨迹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876EAB5-B571-45AC-8B0C-5936E6D0A274}"/>
              </a:ext>
            </a:extLst>
          </p:cNvPr>
          <p:cNvSpPr>
            <a:spLocks noGrp="1"/>
          </p:cNvSpPr>
          <p:nvPr/>
        </p:nvSpPr>
        <p:spPr>
          <a:xfrm>
            <a:off x="2971800" y="47244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6DB954-AC57-45CA-999E-F7B103F0EA41}"/>
              </a:ext>
            </a:extLst>
          </p:cNvPr>
          <p:cNvSpPr>
            <a:spLocks noGrp="1"/>
          </p:cNvSpPr>
          <p:nvPr/>
        </p:nvSpPr>
        <p:spPr>
          <a:xfrm>
            <a:off x="3105150" y="48291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支持复盘与问责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CFFE69-D503-4E19-B899-5C0C1B445789}"/>
              </a:ext>
            </a:extLst>
          </p:cNvPr>
          <p:cNvSpPr>
            <a:spLocks noGrp="1"/>
          </p:cNvSpPr>
          <p:nvPr/>
        </p:nvSpPr>
        <p:spPr>
          <a:xfrm>
            <a:off x="5924550" y="47244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01272D-C43D-4E78-A337-96EE12F0E26E}"/>
              </a:ext>
            </a:extLst>
          </p:cNvPr>
          <p:cNvSpPr>
            <a:spLocks noGrp="1"/>
          </p:cNvSpPr>
          <p:nvPr/>
        </p:nvSpPr>
        <p:spPr>
          <a:xfrm>
            <a:off x="6057900" y="48291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推理日志、执行日志、用户行为记录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239404-3952-409D-A6E4-1CE2DED2FB7D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5D23C3-E171-44BC-97D6-7094FF5FF6D3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实时监控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320AD1-64CA-4E1B-AD59-A2ECFF36513C}"/>
              </a:ext>
            </a:extLst>
          </p:cNvPr>
          <p:cNvSpPr>
            <a:spLocks noGrp="1"/>
          </p:cNvSpPr>
          <p:nvPr/>
        </p:nvSpPr>
        <p:spPr>
          <a:xfrm>
            <a:off x="2971800" y="51816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90744F-341D-4DFE-8532-94274A522D4D}"/>
              </a:ext>
            </a:extLst>
          </p:cNvPr>
          <p:cNvSpPr>
            <a:spLocks noGrp="1"/>
          </p:cNvSpPr>
          <p:nvPr/>
        </p:nvSpPr>
        <p:spPr>
          <a:xfrm>
            <a:off x="3105150" y="5286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保持运营可见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32D267-CD45-496D-9395-1B63CE32F5DE}"/>
              </a:ext>
            </a:extLst>
          </p:cNvPr>
          <p:cNvSpPr>
            <a:spLocks noGrp="1"/>
          </p:cNvSpPr>
          <p:nvPr/>
        </p:nvSpPr>
        <p:spPr>
          <a:xfrm>
            <a:off x="5924550" y="51816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12335F-57FA-43E7-8861-9D5A6B8ECAC1}"/>
              </a:ext>
            </a:extLst>
          </p:cNvPr>
          <p:cNvSpPr>
            <a:spLocks noGrp="1"/>
          </p:cNvSpPr>
          <p:nvPr/>
        </p:nvSpPr>
        <p:spPr>
          <a:xfrm>
            <a:off x="6057900" y="5286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状态、盈亏、智能体指标与告警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23E9BE-4B1B-409B-B952-5F221576169A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资金机构决策视角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4B70F28-FD07-4B3F-9168-7E4590982B35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试点资金应仅在托管、回撤、止损、授权与报告规则明确后释放。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77EE345-D88A-4A0E-94A0-18D37255E6FC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37AF6-B860-806C-2796-99AA556AE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76199"/>
            <a:ext cx="876301" cy="87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0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3F929EE-76C0-43D6-8DD0-F6BD59C11F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D533D93A-7AB6-4767-A96E-9A43E7C7A3E5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03735A21-654A-4136-9371-D304747D74AB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资金路径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B1F98-AB1E-48C7-9078-DFD8EDCD25E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建议先启动受控试点，再扩大资金规模。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A62F9-E904-48CB-9C9C-83AACC8049C7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资金机构试点应先验证治理、报告和运营纪律，再讨论规模化资金部署。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801C53-AE29-4E96-8664-A786A6F4D15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40B48C-35C0-4EDD-BDEC-92C012AD8F51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02C541-2BBE-4E88-97A3-9966427BC280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授权设计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35EBB8-4B4C-490F-B066-D765D18C14A2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确认资金规模、允许资产、券商/托管模式、提款规则与合规义务。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D39B7E-C924-4C0C-A0FC-6D367DE59442}"/>
              </a:ext>
            </a:extLst>
          </p:cNvPr>
          <p:cNvSpPr>
            <a:spLocks noGrp="1"/>
          </p:cNvSpPr>
          <p:nvPr/>
        </p:nvSpPr>
        <p:spPr>
          <a:xfrm>
            <a:off x="31623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2EFBB-FEB7-4C57-AD41-D4076D83FE35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74E303-5AF0-4A33-A8CC-46178905C4EC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F00482-2B80-4F43-AEDB-9C5A827DB422}"/>
              </a:ext>
            </a:extLst>
          </p:cNvPr>
          <p:cNvSpPr>
            <a:spLocks noGrp="1"/>
          </p:cNvSpPr>
          <p:nvPr/>
        </p:nvSpPr>
        <p:spPr>
          <a:xfrm>
            <a:off x="41338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平台配置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AB0CC4-FF6E-4673-B131-18627B7AF665}"/>
              </a:ext>
            </a:extLst>
          </p:cNvPr>
          <p:cNvSpPr>
            <a:spLocks noGrp="1"/>
          </p:cNvSpPr>
          <p:nvPr/>
        </p:nvSpPr>
        <p:spPr>
          <a:xfrm>
            <a:off x="371475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部署仪表盘、认证、智能体配置、券商集成与审计日志。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67785F-CB5E-437F-AAD5-F9C48C8A9966}"/>
              </a:ext>
            </a:extLst>
          </p:cNvPr>
          <p:cNvSpPr>
            <a:spLocks noGrp="1"/>
          </p:cNvSpPr>
          <p:nvPr/>
        </p:nvSpPr>
        <p:spPr>
          <a:xfrm>
            <a:off x="592455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AB54C0-33AB-4B2D-A325-E35E94F50204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44EE1-51CA-46BB-AD70-883C9BECB742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3FCDC-B450-4C3B-AD08-B5ADEB67BFAA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试点交易窗口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CA17B2-74F9-4FF7-9AE8-FF7BE70C852E}"/>
              </a:ext>
            </a:extLst>
          </p:cNvPr>
          <p:cNvSpPr>
            <a:spLocks noGrp="1"/>
          </p:cNvSpPr>
          <p:nvPr/>
        </p:nvSpPr>
        <p:spPr>
          <a:xfrm>
            <a:off x="647700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在明确风险限制下运行，并提供周度报告与可审查推理。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535CA8-3228-4B1F-AB68-EB3CC7C57F99}"/>
              </a:ext>
            </a:extLst>
          </p:cNvPr>
          <p:cNvSpPr>
            <a:spLocks noGrp="1"/>
          </p:cNvSpPr>
          <p:nvPr/>
        </p:nvSpPr>
        <p:spPr>
          <a:xfrm>
            <a:off x="86868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01468B-7D31-4671-B500-D44F97C67F9F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16383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5BBA08-22E7-4F0B-8F29-318DF3CA5EDC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DA1EE3-FAB0-4F9E-A312-882D65CA6EC1}"/>
              </a:ext>
            </a:extLst>
          </p:cNvPr>
          <p:cNvSpPr>
            <a:spLocks noGrp="1"/>
          </p:cNvSpPr>
          <p:nvPr/>
        </p:nvSpPr>
        <p:spPr>
          <a:xfrm>
            <a:off x="96583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机构决策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35B3D6-1C21-4197-843A-18C733B3F7B8}"/>
              </a:ext>
            </a:extLst>
          </p:cNvPr>
          <p:cNvSpPr>
            <a:spLocks noGrp="1"/>
          </p:cNvSpPr>
          <p:nvPr/>
        </p:nvSpPr>
        <p:spPr>
          <a:xfrm>
            <a:off x="923925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E9F5F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E9F5F1"/>
                </a:solidFill>
                <a:latin typeface="Aptos"/>
                <a:ea typeface="Aptos"/>
                <a:cs typeface="Aptos"/>
              </a:rPr>
              <a:t>达标或复盘时：提款、利润留美、再投入或停止。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ACE8B3-E129-4A94-B6A5-299400464410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7239000" cy="723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EBB8AE-BBBF-49BE-A5C5-139EA25D99EB}"/>
              </a:ext>
            </a:extLst>
          </p:cNvPr>
          <p:cNvSpPr>
            <a:spLocks noGrp="1"/>
          </p:cNvSpPr>
          <p:nvPr/>
        </p:nvSpPr>
        <p:spPr>
          <a:xfrm>
            <a:off x="933450" y="5362575"/>
            <a:ext cx="689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建议的资金沟通顺序：先批准试点条款清单，再确认法律结构、托管、券商条款、可交易市场、报告机制与风险阈值。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8A4463-86BE-429E-9EDE-F13E06131A7A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381250" cy="87630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4C1528-9A62-469F-9063-6347EC5DF67F}"/>
              </a:ext>
            </a:extLst>
          </p:cNvPr>
          <p:cNvSpPr>
            <a:spLocks noGrp="1"/>
          </p:cNvSpPr>
          <p:nvPr/>
        </p:nvSpPr>
        <p:spPr>
          <a:xfrm>
            <a:off x="8801100" y="5381625"/>
            <a:ext cx="1924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D9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D9CE"/>
                </a:solidFill>
                <a:latin typeface="Aptos"/>
                <a:ea typeface="Aptos"/>
                <a:cs typeface="Aptos"/>
              </a:rPr>
              <a:t>下一步决策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ED752F-E7FE-4B0E-ADCF-542B43AD1156}"/>
              </a:ext>
            </a:extLst>
          </p:cNvPr>
          <p:cNvSpPr>
            <a:spLocks noGrp="1"/>
          </p:cNvSpPr>
          <p:nvPr/>
        </p:nvSpPr>
        <p:spPr>
          <a:xfrm>
            <a:off x="8820150" y="56388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批准试点授权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CB2064-B95E-4743-97AE-D8CFA494E7C6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8F963-7A70-E1E7-FF7C-D7EA2129C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76199"/>
            <a:ext cx="876301" cy="87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837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305</Words>
  <Application>Microsoft Macintosh PowerPoint</Application>
  <DocSecurity>0</DocSecurity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Ali, Elias</cp:lastModifiedBy>
  <cp:revision>3</cp:revision>
  <dcterms:created xsi:type="dcterms:W3CDTF">2026-05-22T08:39:56Z</dcterms:created>
  <dcterms:modified xsi:type="dcterms:W3CDTF">2026-05-25T03:46:19Z</dcterms:modified>
</cp:coreProperties>
</file>