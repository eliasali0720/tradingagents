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1" d="100"/>
          <a:sy n="121" d="100"/>
        </p:scale>
        <p:origin x="7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62493A2E-D3E7-42F1-8E77-4808228C7D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1-marker">
            <a:extLst>
              <a:ext uri="{FF2B5EF4-FFF2-40B4-BE49-F238E27FC236}">
                <a16:creationId xmlns:a16="http://schemas.microsoft.com/office/drawing/2014/main" id="{80E8099C-B910-4B3F-9753-DC10B9B87385}"/>
              </a:ext>
            </a:extLst>
          </p:cNvPr>
          <p:cNvSpPr>
            <a:spLocks noGrp="1"/>
          </p:cNvSpPr>
          <p:nvPr/>
        </p:nvSpPr>
        <p:spPr>
          <a:xfrm>
            <a:off x="609600" y="528638"/>
            <a:ext cx="209550" cy="28575"/>
          </a:xfrm>
          <a:prstGeom prst="rect">
            <a:avLst/>
          </a:prstGeom>
          <a:solidFill>
            <a:srgbClr val="0D6B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1-label">
            <a:extLst>
              <a:ext uri="{FF2B5EF4-FFF2-40B4-BE49-F238E27FC236}">
                <a16:creationId xmlns:a16="http://schemas.microsoft.com/office/drawing/2014/main" id="{F87EE5D7-F0C8-4861-8039-A760BDED2686}"/>
              </a:ext>
            </a:extLst>
          </p:cNvPr>
          <p:cNvSpPr>
            <a:spLocks noGrp="1"/>
          </p:cNvSpPr>
          <p:nvPr/>
        </p:nvSpPr>
        <p:spPr>
          <a:xfrm>
            <a:off x="933450" y="45720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FUNDING AGENCY PITCH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3324D9-7CA3-41CC-809A-E98D3C00F1D4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810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rPr>
              <a:t>Funding can become a governed AI-trading program, not a black box.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10B92C-2FF6-4F39-9315-5A62CCCAECAF}"/>
              </a:ext>
            </a:extLst>
          </p:cNvPr>
          <p:cNvSpPr>
            <a:spLocks noGrp="1"/>
          </p:cNvSpPr>
          <p:nvPr/>
        </p:nvSpPr>
        <p:spPr>
          <a:xfrm>
            <a:off x="628650" y="2095500"/>
            <a:ext cx="6667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TradingAgents packages multi-agent market research, transparent reasoning, broker execution, and risk controls into a customer-facing platform for managed capital programs.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770751-4EF2-43F7-BB6E-1D0ADA2C99E0}"/>
              </a:ext>
            </a:extLst>
          </p:cNvPr>
          <p:cNvSpPr>
            <a:spLocks noGrp="1"/>
          </p:cNvSpPr>
          <p:nvPr/>
        </p:nvSpPr>
        <p:spPr>
          <a:xfrm>
            <a:off x="8648700" y="666750"/>
            <a:ext cx="2266950" cy="2266950"/>
          </a:xfrm>
          <a:prstGeom prst="rect">
            <a:avLst/>
          </a:prstGeom>
          <a:solidFill>
            <a:srgbClr val="0D6B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7AA8F2-98E4-4E45-85C3-4DDE62AEAC0A}"/>
              </a:ext>
            </a:extLst>
          </p:cNvPr>
          <p:cNvSpPr>
            <a:spLocks noGrp="1"/>
          </p:cNvSpPr>
          <p:nvPr/>
        </p:nvSpPr>
        <p:spPr>
          <a:xfrm>
            <a:off x="8839200" y="914400"/>
            <a:ext cx="18859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Target-based</a:t>
            </a:r>
          </a:p>
          <a:p>
            <a:pPr algn="ctr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capital path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BA2619-211E-4728-9A99-1A6DA9E240E0}"/>
              </a:ext>
            </a:extLst>
          </p:cNvPr>
          <p:cNvSpPr>
            <a:spLocks noGrp="1"/>
          </p:cNvSpPr>
          <p:nvPr/>
        </p:nvSpPr>
        <p:spPr>
          <a:xfrm>
            <a:off x="9010650" y="1752600"/>
            <a:ext cx="15430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0">
                <a:solidFill>
                  <a:srgbClr val="E8F5E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8F5EF"/>
                </a:solidFill>
                <a:latin typeface="Aptos"/>
                <a:ea typeface="Aptos"/>
                <a:cs typeface="Aptos"/>
              </a:rPr>
              <a:t>Deposit -&gt; governed</a:t>
            </a:r>
          </a:p>
          <a:p>
            <a:pPr algn="ctr">
              <a:defRPr sz="1050" b="0">
                <a:solidFill>
                  <a:srgbClr val="E8F5E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8F5EF"/>
                </a:solidFill>
                <a:latin typeface="Aptos"/>
                <a:ea typeface="Aptos"/>
                <a:cs typeface="Aptos"/>
              </a:rPr>
              <a:t>trading -&gt; withdrawal</a:t>
            </a:r>
          </a:p>
          <a:p>
            <a:pPr algn="ctr">
              <a:defRPr sz="1050" b="0">
                <a:solidFill>
                  <a:srgbClr val="E8F5E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8F5EF"/>
                </a:solidFill>
                <a:latin typeface="Aptos"/>
                <a:ea typeface="Aptos"/>
                <a:cs typeface="Aptos"/>
              </a:rPr>
              <a:t>option at agreed target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67D3F6-A59A-46D1-8836-FB89689DDC8C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314325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0FC785-8728-4436-A99C-AA5539A3C2E9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66675" cy="1219200"/>
          </a:xfrm>
          <a:prstGeom prst="rect">
            <a:avLst/>
          </a:prstGeom>
          <a:solidFill>
            <a:srgbClr val="0D6B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A636AA-2298-48EB-917F-D3759FF29E72}"/>
              </a:ext>
            </a:extLst>
          </p:cNvPr>
          <p:cNvSpPr>
            <a:spLocks noGrp="1"/>
          </p:cNvSpPr>
          <p:nvPr/>
        </p:nvSpPr>
        <p:spPr>
          <a:xfrm>
            <a:off x="800100" y="396240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F4811A-D8E3-441E-983A-9A55E90CFC70}"/>
              </a:ext>
            </a:extLst>
          </p:cNvPr>
          <p:cNvSpPr>
            <a:spLocks noGrp="1"/>
          </p:cNvSpPr>
          <p:nvPr/>
        </p:nvSpPr>
        <p:spPr>
          <a:xfrm>
            <a:off x="1238250" y="3943350"/>
            <a:ext cx="2305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Agency deposits funds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8473DF-46A3-4ADE-B079-9ED1AB14CDA7}"/>
              </a:ext>
            </a:extLst>
          </p:cNvPr>
          <p:cNvSpPr>
            <a:spLocks noGrp="1"/>
          </p:cNvSpPr>
          <p:nvPr/>
        </p:nvSpPr>
        <p:spPr>
          <a:xfrm>
            <a:off x="1238250" y="4381500"/>
            <a:ext cx="23050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035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Capital enters under a defined mandate, reporting cadence, and risk envelope.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AE2506-A54A-43EA-98E3-2971F4EB5085}"/>
              </a:ext>
            </a:extLst>
          </p:cNvPr>
          <p:cNvSpPr>
            <a:spLocks noGrp="1"/>
          </p:cNvSpPr>
          <p:nvPr/>
        </p:nvSpPr>
        <p:spPr>
          <a:xfrm>
            <a:off x="4524375" y="3810000"/>
            <a:ext cx="314325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D282EF-7735-4416-987E-5934F7E0581E}"/>
              </a:ext>
            </a:extLst>
          </p:cNvPr>
          <p:cNvSpPr>
            <a:spLocks noGrp="1"/>
          </p:cNvSpPr>
          <p:nvPr/>
        </p:nvSpPr>
        <p:spPr>
          <a:xfrm>
            <a:off x="4524375" y="3810000"/>
            <a:ext cx="66675" cy="1219200"/>
          </a:xfrm>
          <a:prstGeom prst="rect">
            <a:avLst/>
          </a:prstGeom>
          <a:solidFill>
            <a:srgbClr val="0D6B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AC7BDC-42B1-4354-AFF7-CAEDFD435BEA}"/>
              </a:ext>
            </a:extLst>
          </p:cNvPr>
          <p:cNvSpPr>
            <a:spLocks noGrp="1"/>
          </p:cNvSpPr>
          <p:nvPr/>
        </p:nvSpPr>
        <p:spPr>
          <a:xfrm>
            <a:off x="4714875" y="396240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FDC6E3-9951-43DA-BCF9-D0D7E9BAACA0}"/>
              </a:ext>
            </a:extLst>
          </p:cNvPr>
          <p:cNvSpPr>
            <a:spLocks noGrp="1"/>
          </p:cNvSpPr>
          <p:nvPr/>
        </p:nvSpPr>
        <p:spPr>
          <a:xfrm>
            <a:off x="5153025" y="3943350"/>
            <a:ext cx="2305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AI agents operate under controls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B3E557-A07A-421C-8943-ECEE775D58CD}"/>
              </a:ext>
            </a:extLst>
          </p:cNvPr>
          <p:cNvSpPr>
            <a:spLocks noGrp="1"/>
          </p:cNvSpPr>
          <p:nvPr/>
        </p:nvSpPr>
        <p:spPr>
          <a:xfrm>
            <a:off x="5153025" y="4381500"/>
            <a:ext cx="23050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035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Analyst, researcher, trader, and risk teams produce auditable recommendations.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3AE0BA-B890-4003-988A-F335693B8D14}"/>
              </a:ext>
            </a:extLst>
          </p:cNvPr>
          <p:cNvSpPr>
            <a:spLocks noGrp="1"/>
          </p:cNvSpPr>
          <p:nvPr/>
        </p:nvSpPr>
        <p:spPr>
          <a:xfrm>
            <a:off x="8439150" y="3810000"/>
            <a:ext cx="314325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6C4DDC-066D-4292-BA82-5F29D3876029}"/>
              </a:ext>
            </a:extLst>
          </p:cNvPr>
          <p:cNvSpPr>
            <a:spLocks noGrp="1"/>
          </p:cNvSpPr>
          <p:nvPr/>
        </p:nvSpPr>
        <p:spPr>
          <a:xfrm>
            <a:off x="8439150" y="3810000"/>
            <a:ext cx="66675" cy="1219200"/>
          </a:xfrm>
          <a:prstGeom prst="rect">
            <a:avLst/>
          </a:prstGeom>
          <a:solidFill>
            <a:srgbClr val="0D6B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D45DEF-3961-4848-ABDD-2CED8788E95A}"/>
              </a:ext>
            </a:extLst>
          </p:cNvPr>
          <p:cNvSpPr>
            <a:spLocks noGrp="1"/>
          </p:cNvSpPr>
          <p:nvPr/>
        </p:nvSpPr>
        <p:spPr>
          <a:xfrm>
            <a:off x="8629650" y="396240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BBB3EF-A148-4864-BB8B-3933F02D3970}"/>
              </a:ext>
            </a:extLst>
          </p:cNvPr>
          <p:cNvSpPr>
            <a:spLocks noGrp="1"/>
          </p:cNvSpPr>
          <p:nvPr/>
        </p:nvSpPr>
        <p:spPr>
          <a:xfrm>
            <a:off x="9067800" y="3943350"/>
            <a:ext cx="2305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Liquidity follows target rules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66431D-65ED-4657-901F-A3EFE60D5DFD}"/>
              </a:ext>
            </a:extLst>
          </p:cNvPr>
          <p:cNvSpPr>
            <a:spLocks noGrp="1"/>
          </p:cNvSpPr>
          <p:nvPr/>
        </p:nvSpPr>
        <p:spPr>
          <a:xfrm>
            <a:off x="9067800" y="4381500"/>
            <a:ext cx="23050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035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At a 2x capital target, agency may withdraw under contract or retain profits in the U.S.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94ACD1A-561D-4AD0-BDFA-56366BD0E73F}"/>
              </a:ext>
            </a:extLst>
          </p:cNvPr>
          <p:cNvSpPr>
            <a:spLocks noGrp="1"/>
          </p:cNvSpPr>
          <p:nvPr/>
        </p:nvSpPr>
        <p:spPr>
          <a:xfrm>
            <a:off x="3905250" y="4343400"/>
            <a:ext cx="400050" cy="28575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69BEB6-7B58-4EFC-A681-5CDA641C359E}"/>
              </a:ext>
            </a:extLst>
          </p:cNvPr>
          <p:cNvSpPr>
            <a:spLocks noGrp="1"/>
          </p:cNvSpPr>
          <p:nvPr/>
        </p:nvSpPr>
        <p:spPr>
          <a:xfrm>
            <a:off x="7820025" y="4343400"/>
            <a:ext cx="400050" cy="28575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3A0DDF8-FEA7-4BEE-8FA6-53D254D76345}"/>
              </a:ext>
            </a:extLst>
          </p:cNvPr>
          <p:cNvSpPr>
            <a:spLocks noGrp="1"/>
          </p:cNvSpPr>
          <p:nvPr/>
        </p:nvSpPr>
        <p:spPr>
          <a:xfrm>
            <a:off x="609600" y="5381625"/>
            <a:ext cx="10972800" cy="6667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57AF0B0-B180-45A4-A76C-F045AB33E31B}"/>
              </a:ext>
            </a:extLst>
          </p:cNvPr>
          <p:cNvSpPr>
            <a:spLocks noGrp="1"/>
          </p:cNvSpPr>
          <p:nvPr/>
        </p:nvSpPr>
        <p:spPr>
          <a:xfrm>
            <a:off x="781050" y="5534025"/>
            <a:ext cx="10629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Positioning guardrail: this deck treats “doubling” as a target scenario, not a guaranteed return. Final terms require legal, broker, and compliance review.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B49DC70-9F45-4296-A8B3-E31F92999696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8746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8746B"/>
                </a:solidFill>
                <a:latin typeface="Aptos"/>
                <a:ea typeface="Aptos"/>
                <a:cs typeface="Aptos"/>
              </a:rPr>
              <a:t>Prepared for funding-agency discussion | return language is target-based, not guaranteed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ED8789B-8CEA-4282-911F-D1BF2CBDBAA4}"/>
              </a:ext>
            </a:extLst>
          </p:cNvPr>
          <p:cNvSpPr>
            <a:spLocks noGrp="1"/>
          </p:cNvSpPr>
          <p:nvPr/>
        </p:nvSpPr>
        <p:spPr>
          <a:xfrm>
            <a:off x="11144250" y="655320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8746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8746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09530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3399B61-0394-428E-B332-ED9DC31308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2-marker">
            <a:extLst>
              <a:ext uri="{FF2B5EF4-FFF2-40B4-BE49-F238E27FC236}">
                <a16:creationId xmlns:a16="http://schemas.microsoft.com/office/drawing/2014/main" id="{22912879-6C6C-49FF-9C04-A09D05D85FC4}"/>
              </a:ext>
            </a:extLst>
          </p:cNvPr>
          <p:cNvSpPr>
            <a:spLocks noGrp="1"/>
          </p:cNvSpPr>
          <p:nvPr/>
        </p:nvSpPr>
        <p:spPr>
          <a:xfrm>
            <a:off x="609600" y="528638"/>
            <a:ext cx="209550" cy="28575"/>
          </a:xfrm>
          <a:prstGeom prst="rect">
            <a:avLst/>
          </a:prstGeom>
          <a:solidFill>
            <a:srgbClr val="0D6B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2-label">
            <a:extLst>
              <a:ext uri="{FF2B5EF4-FFF2-40B4-BE49-F238E27FC236}">
                <a16:creationId xmlns:a16="http://schemas.microsoft.com/office/drawing/2014/main" id="{03E424BA-9D6D-47BB-836F-FEAA3F399AC1}"/>
              </a:ext>
            </a:extLst>
          </p:cNvPr>
          <p:cNvSpPr>
            <a:spLocks noGrp="1"/>
          </p:cNvSpPr>
          <p:nvPr/>
        </p:nvSpPr>
        <p:spPr>
          <a:xfrm>
            <a:off x="933450" y="45720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PRODUCT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E4E427-2E32-4069-9C98-5DCAC7979C0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6667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rPr>
              <a:t>TradingAgents turns market uncertainty into auditable decisions.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8D1858-0246-4EA9-8443-A2066C6EA6D7}"/>
              </a:ext>
            </a:extLst>
          </p:cNvPr>
          <p:cNvSpPr>
            <a:spLocks noGrp="1"/>
          </p:cNvSpPr>
          <p:nvPr/>
        </p:nvSpPr>
        <p:spPr>
          <a:xfrm>
            <a:off x="628650" y="2266950"/>
            <a:ext cx="6477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The product converts market data and debate among specialized agents into visible recommendations, approval gates, and broker-executable orders.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74070" y="2990850"/>
            <a:ext cx="7843860" cy="2362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30F7A6A-A1F3-4FFB-AF63-C721FDC04315}"/>
              </a:ext>
            </a:extLst>
          </p:cNvPr>
          <p:cNvSpPr>
            <a:spLocks noGrp="1"/>
          </p:cNvSpPr>
          <p:nvPr/>
        </p:nvSpPr>
        <p:spPr>
          <a:xfrm>
            <a:off x="609600" y="2800350"/>
            <a:ext cx="10972800" cy="27432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562275-4F57-413F-BD19-7A90997C0DE9}"/>
              </a:ext>
            </a:extLst>
          </p:cNvPr>
          <p:cNvSpPr>
            <a:spLocks noGrp="1"/>
          </p:cNvSpPr>
          <p:nvPr/>
        </p:nvSpPr>
        <p:spPr>
          <a:xfrm>
            <a:off x="7496175" y="857250"/>
            <a:ext cx="876300" cy="9906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504EAC-416E-4CC9-9662-1255D0F05DA8}"/>
              </a:ext>
            </a:extLst>
          </p:cNvPr>
          <p:cNvSpPr>
            <a:spLocks noGrp="1"/>
          </p:cNvSpPr>
          <p:nvPr/>
        </p:nvSpPr>
        <p:spPr>
          <a:xfrm>
            <a:off x="7591425" y="104775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Research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ADF05F-3869-439F-A56E-F696C2CF8BEA}"/>
              </a:ext>
            </a:extLst>
          </p:cNvPr>
          <p:cNvSpPr>
            <a:spLocks noGrp="1"/>
          </p:cNvSpPr>
          <p:nvPr/>
        </p:nvSpPr>
        <p:spPr>
          <a:xfrm>
            <a:off x="7572375" y="1333500"/>
            <a:ext cx="723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fundamentals, news, sentiment, technicals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13509C-422B-46B3-A1B2-E2D0B714ADCD}"/>
              </a:ext>
            </a:extLst>
          </p:cNvPr>
          <p:cNvSpPr>
            <a:spLocks noGrp="1"/>
          </p:cNvSpPr>
          <p:nvPr/>
        </p:nvSpPr>
        <p:spPr>
          <a:xfrm>
            <a:off x="8496300" y="857250"/>
            <a:ext cx="876300" cy="9906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5D5DC0-BEDD-4168-822C-DFDC4E26054E}"/>
              </a:ext>
            </a:extLst>
          </p:cNvPr>
          <p:cNvSpPr>
            <a:spLocks noGrp="1"/>
          </p:cNvSpPr>
          <p:nvPr/>
        </p:nvSpPr>
        <p:spPr>
          <a:xfrm>
            <a:off x="8591550" y="104775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Debate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AAD37B-F04A-4E39-BF3E-0D22CBC66FA8}"/>
              </a:ext>
            </a:extLst>
          </p:cNvPr>
          <p:cNvSpPr>
            <a:spLocks noGrp="1"/>
          </p:cNvSpPr>
          <p:nvPr/>
        </p:nvSpPr>
        <p:spPr>
          <a:xfrm>
            <a:off x="8572500" y="1333500"/>
            <a:ext cx="723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bull / bear reasoning captured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AEDF5F-02C0-489C-B347-31B66A20D0FE}"/>
              </a:ext>
            </a:extLst>
          </p:cNvPr>
          <p:cNvSpPr>
            <a:spLocks noGrp="1"/>
          </p:cNvSpPr>
          <p:nvPr/>
        </p:nvSpPr>
        <p:spPr>
          <a:xfrm>
            <a:off x="9496425" y="857250"/>
            <a:ext cx="876300" cy="9906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A04E9F-BDD3-42DE-89A9-DC15570EB894}"/>
              </a:ext>
            </a:extLst>
          </p:cNvPr>
          <p:cNvSpPr>
            <a:spLocks noGrp="1"/>
          </p:cNvSpPr>
          <p:nvPr/>
        </p:nvSpPr>
        <p:spPr>
          <a:xfrm>
            <a:off x="9591675" y="104775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5B470F-3CBB-4360-8216-642755F85122}"/>
              </a:ext>
            </a:extLst>
          </p:cNvPr>
          <p:cNvSpPr>
            <a:spLocks noGrp="1"/>
          </p:cNvSpPr>
          <p:nvPr/>
        </p:nvSpPr>
        <p:spPr>
          <a:xfrm>
            <a:off x="9572625" y="1333500"/>
            <a:ext cx="723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trader recommendation with rationale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FABF9E-2633-4FBD-B31F-DD03EF761CB6}"/>
              </a:ext>
            </a:extLst>
          </p:cNvPr>
          <p:cNvSpPr>
            <a:spLocks noGrp="1"/>
          </p:cNvSpPr>
          <p:nvPr/>
        </p:nvSpPr>
        <p:spPr>
          <a:xfrm>
            <a:off x="10496550" y="857250"/>
            <a:ext cx="876300" cy="990600"/>
          </a:xfrm>
          <a:prstGeom prst="rect">
            <a:avLst/>
          </a:prstGeom>
          <a:solidFill>
            <a:srgbClr val="0D6B5E"/>
          </a:solidFill>
          <a:ln w="9525">
            <a:solidFill>
              <a:srgbClr val="0D6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20393E-D4DF-4857-85A0-F4D34D0E91A8}"/>
              </a:ext>
            </a:extLst>
          </p:cNvPr>
          <p:cNvSpPr>
            <a:spLocks noGrp="1"/>
          </p:cNvSpPr>
          <p:nvPr/>
        </p:nvSpPr>
        <p:spPr>
          <a:xfrm>
            <a:off x="10591800" y="104775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995F3E-370C-4060-B413-5E2DCC3C4AAF}"/>
              </a:ext>
            </a:extLst>
          </p:cNvPr>
          <p:cNvSpPr>
            <a:spLocks noGrp="1"/>
          </p:cNvSpPr>
          <p:nvPr/>
        </p:nvSpPr>
        <p:spPr>
          <a:xfrm>
            <a:off x="10572750" y="1333500"/>
            <a:ext cx="723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E4F3E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E4F3EE"/>
                </a:solidFill>
                <a:latin typeface="Aptos"/>
                <a:ea typeface="Aptos"/>
                <a:cs typeface="Aptos"/>
              </a:rPr>
              <a:t>risk team and portfolio approval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F702C9-5B76-4B91-A5B2-A0D638B74685}"/>
              </a:ext>
            </a:extLst>
          </p:cNvPr>
          <p:cNvSpPr>
            <a:spLocks noGrp="1"/>
          </p:cNvSpPr>
          <p:nvPr/>
        </p:nvSpPr>
        <p:spPr>
          <a:xfrm>
            <a:off x="609600" y="575310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WHY IT MATTERS TO A FUNDER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196A28-3810-42CC-B072-266A8B4C75D9}"/>
              </a:ext>
            </a:extLst>
          </p:cNvPr>
          <p:cNvSpPr>
            <a:spLocks noGrp="1"/>
          </p:cNvSpPr>
          <p:nvPr/>
        </p:nvSpPr>
        <p:spPr>
          <a:xfrm>
            <a:off x="609600" y="5962650"/>
            <a:ext cx="10287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Capital is not deployed on opaque model output alone; each recommendation can be reviewed through the chain of inputs, agent reasoning, risk checks, and execution logs.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277165-617D-4F35-A63D-ABB9A7C3B735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8746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8746B"/>
                </a:solidFill>
                <a:latin typeface="Aptos"/>
                <a:ea typeface="Aptos"/>
                <a:cs typeface="Aptos"/>
              </a:rPr>
              <a:t>Source: TradingAgents README and repo asset assets/schema.png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E19685-02B7-4CDC-86BA-A61647BFF4F8}"/>
              </a:ext>
            </a:extLst>
          </p:cNvPr>
          <p:cNvSpPr>
            <a:spLocks noGrp="1"/>
          </p:cNvSpPr>
          <p:nvPr/>
        </p:nvSpPr>
        <p:spPr>
          <a:xfrm>
            <a:off x="11144250" y="655320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8746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8746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2307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FD254A6-3E7B-45E1-BB3F-7A6C14679F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3-marker">
            <a:extLst>
              <a:ext uri="{FF2B5EF4-FFF2-40B4-BE49-F238E27FC236}">
                <a16:creationId xmlns:a16="http://schemas.microsoft.com/office/drawing/2014/main" id="{3C60E4DF-E36C-4A4E-9FF9-0DEE9B686D88}"/>
              </a:ext>
            </a:extLst>
          </p:cNvPr>
          <p:cNvSpPr>
            <a:spLocks noGrp="1"/>
          </p:cNvSpPr>
          <p:nvPr/>
        </p:nvSpPr>
        <p:spPr>
          <a:xfrm>
            <a:off x="609600" y="528638"/>
            <a:ext cx="209550" cy="28575"/>
          </a:xfrm>
          <a:prstGeom prst="rect">
            <a:avLst/>
          </a:prstGeom>
          <a:solidFill>
            <a:srgbClr val="0D6B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3-label">
            <a:extLst>
              <a:ext uri="{FF2B5EF4-FFF2-40B4-BE49-F238E27FC236}">
                <a16:creationId xmlns:a16="http://schemas.microsoft.com/office/drawing/2014/main" id="{947288AF-847D-40C4-9566-2EDF1B1ECBC2}"/>
              </a:ext>
            </a:extLst>
          </p:cNvPr>
          <p:cNvSpPr>
            <a:spLocks noGrp="1"/>
          </p:cNvSpPr>
          <p:nvPr/>
        </p:nvSpPr>
        <p:spPr>
          <a:xfrm>
            <a:off x="933450" y="45720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BUSINESS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499AA5-FA5F-4AEF-A021-0F316CFB0EC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953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rPr>
              <a:t>The model gives agencies a clear path from capital deposit to target-based liquidity.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2FBC7D-CCFA-4928-BE53-3CA2E6465B4F}"/>
              </a:ext>
            </a:extLst>
          </p:cNvPr>
          <p:cNvSpPr>
            <a:spLocks noGrp="1"/>
          </p:cNvSpPr>
          <p:nvPr/>
        </p:nvSpPr>
        <p:spPr>
          <a:xfrm>
            <a:off x="628650" y="1847850"/>
            <a:ext cx="8667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The commercial promise is structure: defined capital entry, auditable trading, performance reporting, and pre-agreed choices once the account reaches the target threshold.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7096B8-CE10-4465-9AD9-F5B8DD8C6FE7}"/>
              </a:ext>
            </a:extLst>
          </p:cNvPr>
          <p:cNvSpPr>
            <a:spLocks noGrp="1"/>
          </p:cNvSpPr>
          <p:nvPr/>
        </p:nvSpPr>
        <p:spPr>
          <a:xfrm>
            <a:off x="1285875" y="3662363"/>
            <a:ext cx="3143250" cy="552450"/>
          </a:xfrm>
          <a:prstGeom prst="rect">
            <a:avLst/>
          </a:prstGeom>
          <a:solidFill>
            <a:srgbClr val="0D6B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84181F-2E7E-447F-B129-ABF9B8A7E0FF}"/>
              </a:ext>
            </a:extLst>
          </p:cNvPr>
          <p:cNvSpPr>
            <a:spLocks noGrp="1"/>
          </p:cNvSpPr>
          <p:nvPr/>
        </p:nvSpPr>
        <p:spPr>
          <a:xfrm>
            <a:off x="1457325" y="3814763"/>
            <a:ext cx="2800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Initial agency capital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E260C6-C070-48F1-97DF-5B646DFF076E}"/>
              </a:ext>
            </a:extLst>
          </p:cNvPr>
          <p:cNvSpPr>
            <a:spLocks noGrp="1"/>
          </p:cNvSpPr>
          <p:nvPr/>
        </p:nvSpPr>
        <p:spPr>
          <a:xfrm>
            <a:off x="4600575" y="3814763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1.0x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5FD0DE-11BE-4BBA-8381-689F3D242065}"/>
              </a:ext>
            </a:extLst>
          </p:cNvPr>
          <p:cNvSpPr>
            <a:spLocks noGrp="1"/>
          </p:cNvSpPr>
          <p:nvPr/>
        </p:nvSpPr>
        <p:spPr>
          <a:xfrm>
            <a:off x="1285875" y="2976563"/>
            <a:ext cx="3143250" cy="552450"/>
          </a:xfrm>
          <a:prstGeom prst="rect">
            <a:avLst/>
          </a:prstGeom>
          <a:solidFill>
            <a:srgbClr val="C99B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FB06D6-9606-420F-BC67-ABF072551683}"/>
              </a:ext>
            </a:extLst>
          </p:cNvPr>
          <p:cNvSpPr>
            <a:spLocks noGrp="1"/>
          </p:cNvSpPr>
          <p:nvPr/>
        </p:nvSpPr>
        <p:spPr>
          <a:xfrm>
            <a:off x="1457325" y="3128963"/>
            <a:ext cx="2800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Target profit layer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C6D553-ACC2-4974-9526-E53D9DFB1C7B}"/>
              </a:ext>
            </a:extLst>
          </p:cNvPr>
          <p:cNvSpPr>
            <a:spLocks noGrp="1"/>
          </p:cNvSpPr>
          <p:nvPr/>
        </p:nvSpPr>
        <p:spPr>
          <a:xfrm>
            <a:off x="4600575" y="3128963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+1.0x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0434EA-8098-4A82-A00E-4D42045382E9}"/>
              </a:ext>
            </a:extLst>
          </p:cNvPr>
          <p:cNvSpPr>
            <a:spLocks noGrp="1"/>
          </p:cNvSpPr>
          <p:nvPr/>
        </p:nvSpPr>
        <p:spPr>
          <a:xfrm>
            <a:off x="1209675" y="2881313"/>
            <a:ext cx="57150" cy="1428750"/>
          </a:xfrm>
          <a:prstGeom prst="rect">
            <a:avLst/>
          </a:prstGeom>
          <a:solidFill>
            <a:srgbClr val="1020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C2C393-E04F-4EAB-8910-51B7E18AE5A2}"/>
              </a:ext>
            </a:extLst>
          </p:cNvPr>
          <p:cNvSpPr>
            <a:spLocks noGrp="1"/>
          </p:cNvSpPr>
          <p:nvPr/>
        </p:nvSpPr>
        <p:spPr>
          <a:xfrm>
            <a:off x="628650" y="3443288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10201E"/>
                </a:solidFill>
                <a:latin typeface="Aptos"/>
                <a:ea typeface="Aptos"/>
                <a:cs typeface="Aptos"/>
              </a:rPr>
              <a:t>2x target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2B0428-57AE-43F2-9DA5-3CF8F2599EF0}"/>
              </a:ext>
            </a:extLst>
          </p:cNvPr>
          <p:cNvSpPr>
            <a:spLocks noGrp="1"/>
          </p:cNvSpPr>
          <p:nvPr/>
        </p:nvSpPr>
        <p:spPr>
          <a:xfrm>
            <a:off x="5381625" y="2686050"/>
            <a:ext cx="1762125" cy="17335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019909-8593-44F0-8F21-080B868A2B8A}"/>
              </a:ext>
            </a:extLst>
          </p:cNvPr>
          <p:cNvSpPr>
            <a:spLocks noGrp="1"/>
          </p:cNvSpPr>
          <p:nvPr/>
        </p:nvSpPr>
        <p:spPr>
          <a:xfrm>
            <a:off x="5553075" y="2895600"/>
            <a:ext cx="14097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rPr>
              <a:t>Withdraw capital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324FD3-2138-46CC-91AC-B590A14EED65}"/>
              </a:ext>
            </a:extLst>
          </p:cNvPr>
          <p:cNvSpPr>
            <a:spLocks noGrp="1"/>
          </p:cNvSpPr>
          <p:nvPr/>
        </p:nvSpPr>
        <p:spPr>
          <a:xfrm>
            <a:off x="5553075" y="3505200"/>
            <a:ext cx="14097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Agency may withdraw funds once the contract-defined target is reached.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1B8FC2-041A-43C4-A261-C6A2FCBB9193}"/>
              </a:ext>
            </a:extLst>
          </p:cNvPr>
          <p:cNvSpPr>
            <a:spLocks noGrp="1"/>
          </p:cNvSpPr>
          <p:nvPr/>
        </p:nvSpPr>
        <p:spPr>
          <a:xfrm>
            <a:off x="7429500" y="2686050"/>
            <a:ext cx="1762125" cy="1733550"/>
          </a:xfrm>
          <a:prstGeom prst="rect">
            <a:avLst/>
          </a:prstGeom>
          <a:solidFill>
            <a:srgbClr val="DCECE6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DA006D-D51C-48A8-91BF-012FDB017856}"/>
              </a:ext>
            </a:extLst>
          </p:cNvPr>
          <p:cNvSpPr>
            <a:spLocks noGrp="1"/>
          </p:cNvSpPr>
          <p:nvPr/>
        </p:nvSpPr>
        <p:spPr>
          <a:xfrm>
            <a:off x="7600950" y="2895600"/>
            <a:ext cx="14097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rPr>
              <a:t>Retain profit in U.S.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E417AA-38CE-47FF-BD36-2CBC1A662943}"/>
              </a:ext>
            </a:extLst>
          </p:cNvPr>
          <p:cNvSpPr>
            <a:spLocks noGrp="1"/>
          </p:cNvSpPr>
          <p:nvPr/>
        </p:nvSpPr>
        <p:spPr>
          <a:xfrm>
            <a:off x="7600950" y="3505200"/>
            <a:ext cx="14097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Agency may choose to leave profit in the U.S. structure for ongoing participation.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5592A7-AE83-47DA-89B7-F18D830132B0}"/>
              </a:ext>
            </a:extLst>
          </p:cNvPr>
          <p:cNvSpPr>
            <a:spLocks noGrp="1"/>
          </p:cNvSpPr>
          <p:nvPr/>
        </p:nvSpPr>
        <p:spPr>
          <a:xfrm>
            <a:off x="9477375" y="2686050"/>
            <a:ext cx="1762125" cy="17335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988346-ADC3-48F1-8318-04300861A4A0}"/>
              </a:ext>
            </a:extLst>
          </p:cNvPr>
          <p:cNvSpPr>
            <a:spLocks noGrp="1"/>
          </p:cNvSpPr>
          <p:nvPr/>
        </p:nvSpPr>
        <p:spPr>
          <a:xfrm>
            <a:off x="9648825" y="2895600"/>
            <a:ext cx="14097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rPr>
              <a:t>Reinvest under new mandate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FEA118-FF7C-4D97-9973-D86D2095A5AA}"/>
              </a:ext>
            </a:extLst>
          </p:cNvPr>
          <p:cNvSpPr>
            <a:spLocks noGrp="1"/>
          </p:cNvSpPr>
          <p:nvPr/>
        </p:nvSpPr>
        <p:spPr>
          <a:xfrm>
            <a:off x="9648825" y="3505200"/>
            <a:ext cx="14097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A renewed mandate can define updated targets, limits, and reporting.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C0E3E94-9842-41F6-A5B0-CBE7D153B3AA}"/>
              </a:ext>
            </a:extLst>
          </p:cNvPr>
          <p:cNvSpPr>
            <a:spLocks noGrp="1"/>
          </p:cNvSpPr>
          <p:nvPr/>
        </p:nvSpPr>
        <p:spPr>
          <a:xfrm>
            <a:off x="857250" y="51054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5C38"/>
                </a:solidFill>
                <a:latin typeface="Aptos"/>
                <a:ea typeface="Aptos"/>
                <a:cs typeface="Aptos"/>
              </a:rPr>
              <a:t>COMMERCIAL TERMS TO CONFIRM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8E2983-480B-4551-947E-117BAD90A025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952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funding amount | custody / broker arrangement | withdrawal mechanics | profit treatment | jurisdiction | risk limits | reporting frequency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6F36B4-C58D-4462-A3EF-95D804639934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8746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8746B"/>
                </a:solidFill>
                <a:latin typeface="Aptos"/>
                <a:ea typeface="Aptos"/>
                <a:cs typeface="Aptos"/>
              </a:rPr>
              <a:t>User-provided business model, reframed as target-based commercial terms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47FE26-F227-4BCB-93A5-DF0CD29E539D}"/>
              </a:ext>
            </a:extLst>
          </p:cNvPr>
          <p:cNvSpPr>
            <a:spLocks noGrp="1"/>
          </p:cNvSpPr>
          <p:nvPr/>
        </p:nvSpPr>
        <p:spPr>
          <a:xfrm>
            <a:off x="11144250" y="655320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8746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8746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46209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5242FA76-5EEE-4E39-B191-D68E183680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4-marker">
            <a:extLst>
              <a:ext uri="{FF2B5EF4-FFF2-40B4-BE49-F238E27FC236}">
                <a16:creationId xmlns:a16="http://schemas.microsoft.com/office/drawing/2014/main" id="{7CB7605F-7622-47A6-974D-DADFD1FDD9F2}"/>
              </a:ext>
            </a:extLst>
          </p:cNvPr>
          <p:cNvSpPr>
            <a:spLocks noGrp="1"/>
          </p:cNvSpPr>
          <p:nvPr/>
        </p:nvSpPr>
        <p:spPr>
          <a:xfrm>
            <a:off x="609600" y="528638"/>
            <a:ext cx="209550" cy="28575"/>
          </a:xfrm>
          <a:prstGeom prst="rect">
            <a:avLst/>
          </a:prstGeom>
          <a:solidFill>
            <a:srgbClr val="0D6B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4-label">
            <a:extLst>
              <a:ext uri="{FF2B5EF4-FFF2-40B4-BE49-F238E27FC236}">
                <a16:creationId xmlns:a16="http://schemas.microsoft.com/office/drawing/2014/main" id="{925A9407-6E76-48FC-9638-6AE0C583511A}"/>
              </a:ext>
            </a:extLst>
          </p:cNvPr>
          <p:cNvSpPr>
            <a:spLocks noGrp="1"/>
          </p:cNvSpPr>
          <p:nvPr/>
        </p:nvSpPr>
        <p:spPr>
          <a:xfrm>
            <a:off x="933450" y="45720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RISK CONTROLS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2DF5A3-A6F4-402D-9C2D-990C1F60D87E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7620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75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rPr>
              <a:t>Risk controls sit before execution, not after losses appear.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A981D5-9D6B-4A2A-A9A1-A4D00562741B}"/>
              </a:ext>
            </a:extLst>
          </p:cNvPr>
          <p:cNvSpPr>
            <a:spLocks noGrp="1"/>
          </p:cNvSpPr>
          <p:nvPr/>
        </p:nvSpPr>
        <p:spPr>
          <a:xfrm>
            <a:off x="628650" y="1885950"/>
            <a:ext cx="7239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Funding agencies need governance more than a performance story. The platform exposes approvals, limits, execution status, and audit logs around the agent workflow.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0" y="957926"/>
            <a:ext cx="2781300" cy="82734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DE107B-2363-4F1E-A043-8FA1A92E7208}"/>
              </a:ext>
            </a:extLst>
          </p:cNvPr>
          <p:cNvSpPr>
            <a:spLocks noGrp="1"/>
          </p:cNvSpPr>
          <p:nvPr/>
        </p:nvSpPr>
        <p:spPr>
          <a:xfrm>
            <a:off x="781050" y="2895600"/>
            <a:ext cx="2190750" cy="457200"/>
          </a:xfrm>
          <a:prstGeom prst="rect">
            <a:avLst/>
          </a:prstGeom>
          <a:solidFill>
            <a:srgbClr val="0D6B5E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F970C8-E9C0-40C9-B376-81BF60A4D54D}"/>
              </a:ext>
            </a:extLst>
          </p:cNvPr>
          <p:cNvSpPr>
            <a:spLocks noGrp="1"/>
          </p:cNvSpPr>
          <p:nvPr/>
        </p:nvSpPr>
        <p:spPr>
          <a:xfrm>
            <a:off x="914400" y="3000375"/>
            <a:ext cx="1924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DB1E18-A09B-40E2-952F-E9CE813B5936}"/>
              </a:ext>
            </a:extLst>
          </p:cNvPr>
          <p:cNvSpPr>
            <a:spLocks noGrp="1"/>
          </p:cNvSpPr>
          <p:nvPr/>
        </p:nvSpPr>
        <p:spPr>
          <a:xfrm>
            <a:off x="2971800" y="2895600"/>
            <a:ext cx="2952750" cy="457200"/>
          </a:xfrm>
          <a:prstGeom prst="rect">
            <a:avLst/>
          </a:prstGeom>
          <a:solidFill>
            <a:srgbClr val="0D6B5E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6D5970-21BD-4F76-86C1-371B21916617}"/>
              </a:ext>
            </a:extLst>
          </p:cNvPr>
          <p:cNvSpPr>
            <a:spLocks noGrp="1"/>
          </p:cNvSpPr>
          <p:nvPr/>
        </p:nvSpPr>
        <p:spPr>
          <a:xfrm>
            <a:off x="3105150" y="3000375"/>
            <a:ext cx="2686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Agency value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F93199-B3EB-4504-B8D1-D24D5F818605}"/>
              </a:ext>
            </a:extLst>
          </p:cNvPr>
          <p:cNvSpPr>
            <a:spLocks noGrp="1"/>
          </p:cNvSpPr>
          <p:nvPr/>
        </p:nvSpPr>
        <p:spPr>
          <a:xfrm>
            <a:off x="5924550" y="2895600"/>
            <a:ext cx="4953000" cy="457200"/>
          </a:xfrm>
          <a:prstGeom prst="rect">
            <a:avLst/>
          </a:prstGeom>
          <a:solidFill>
            <a:srgbClr val="0D6B5E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5B2FE4-A32C-451D-A243-B9FAD99354D7}"/>
              </a:ext>
            </a:extLst>
          </p:cNvPr>
          <p:cNvSpPr>
            <a:spLocks noGrp="1"/>
          </p:cNvSpPr>
          <p:nvPr/>
        </p:nvSpPr>
        <p:spPr>
          <a:xfrm>
            <a:off x="6057900" y="3000375"/>
            <a:ext cx="468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Platform mechanism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76251E-6954-4621-A245-C2BF38E51E94}"/>
              </a:ext>
            </a:extLst>
          </p:cNvPr>
          <p:cNvSpPr>
            <a:spLocks noGrp="1"/>
          </p:cNvSpPr>
          <p:nvPr/>
        </p:nvSpPr>
        <p:spPr>
          <a:xfrm>
            <a:off x="781050" y="3352800"/>
            <a:ext cx="2190750" cy="457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4C4B3D-7CA6-44C5-B41A-C98E2874E158}"/>
              </a:ext>
            </a:extLst>
          </p:cNvPr>
          <p:cNvSpPr>
            <a:spLocks noGrp="1"/>
          </p:cNvSpPr>
          <p:nvPr/>
        </p:nvSpPr>
        <p:spPr>
          <a:xfrm>
            <a:off x="914400" y="3457575"/>
            <a:ext cx="1924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Pre-trade review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B99CF4-03F1-45FD-8C67-84F0AE475BB7}"/>
              </a:ext>
            </a:extLst>
          </p:cNvPr>
          <p:cNvSpPr>
            <a:spLocks noGrp="1"/>
          </p:cNvSpPr>
          <p:nvPr/>
        </p:nvSpPr>
        <p:spPr>
          <a:xfrm>
            <a:off x="2971800" y="3352800"/>
            <a:ext cx="2952750" cy="457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A77277-9055-4959-BD54-DFEDF2BB6C65}"/>
              </a:ext>
            </a:extLst>
          </p:cNvPr>
          <p:cNvSpPr>
            <a:spLocks noGrp="1"/>
          </p:cNvSpPr>
          <p:nvPr/>
        </p:nvSpPr>
        <p:spPr>
          <a:xfrm>
            <a:off x="3105150" y="3457575"/>
            <a:ext cx="2686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Avoids blind automation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325E89-28A8-4DF7-916F-DC2DEBD13A13}"/>
              </a:ext>
            </a:extLst>
          </p:cNvPr>
          <p:cNvSpPr>
            <a:spLocks noGrp="1"/>
          </p:cNvSpPr>
          <p:nvPr/>
        </p:nvSpPr>
        <p:spPr>
          <a:xfrm>
            <a:off x="5924550" y="3352800"/>
            <a:ext cx="4953000" cy="457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B6B962-46A1-49DE-BB22-607FEFC14A79}"/>
              </a:ext>
            </a:extLst>
          </p:cNvPr>
          <p:cNvSpPr>
            <a:spLocks noGrp="1"/>
          </p:cNvSpPr>
          <p:nvPr/>
        </p:nvSpPr>
        <p:spPr>
          <a:xfrm>
            <a:off x="6057900" y="3457575"/>
            <a:ext cx="468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Manual approval / rejection for recommended trades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F7838B-C8DE-4D49-BFC9-FC0BE2FBC5C2}"/>
              </a:ext>
            </a:extLst>
          </p:cNvPr>
          <p:cNvSpPr>
            <a:spLocks noGrp="1"/>
          </p:cNvSpPr>
          <p:nvPr/>
        </p:nvSpPr>
        <p:spPr>
          <a:xfrm>
            <a:off x="781050" y="3810000"/>
            <a:ext cx="2190750" cy="457200"/>
          </a:xfrm>
          <a:prstGeom prst="rect">
            <a:avLst/>
          </a:prstGeom>
          <a:solidFill>
            <a:srgbClr val="F1EEE5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DB0C59-A6C1-47D3-A3EE-BBEC9A5C1AFF}"/>
              </a:ext>
            </a:extLst>
          </p:cNvPr>
          <p:cNvSpPr>
            <a:spLocks noGrp="1"/>
          </p:cNvSpPr>
          <p:nvPr/>
        </p:nvSpPr>
        <p:spPr>
          <a:xfrm>
            <a:off x="914400" y="3914775"/>
            <a:ext cx="1924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Risk limits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35A71C-F4A8-4F53-B0E4-D244EAC0AEF2}"/>
              </a:ext>
            </a:extLst>
          </p:cNvPr>
          <p:cNvSpPr>
            <a:spLocks noGrp="1"/>
          </p:cNvSpPr>
          <p:nvPr/>
        </p:nvSpPr>
        <p:spPr>
          <a:xfrm>
            <a:off x="2971800" y="3810000"/>
            <a:ext cx="2952750" cy="457200"/>
          </a:xfrm>
          <a:prstGeom prst="rect">
            <a:avLst/>
          </a:prstGeom>
          <a:solidFill>
            <a:srgbClr val="F1EEE5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8B9CCD-B214-4B2F-A8F3-87DAF8C1E886}"/>
              </a:ext>
            </a:extLst>
          </p:cNvPr>
          <p:cNvSpPr>
            <a:spLocks noGrp="1"/>
          </p:cNvSpPr>
          <p:nvPr/>
        </p:nvSpPr>
        <p:spPr>
          <a:xfrm>
            <a:off x="3105150" y="3914775"/>
            <a:ext cx="2686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Caps exposure before execution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2A05F3-1BC0-480D-989E-0D6CC7B76F2B}"/>
              </a:ext>
            </a:extLst>
          </p:cNvPr>
          <p:cNvSpPr>
            <a:spLocks noGrp="1"/>
          </p:cNvSpPr>
          <p:nvPr/>
        </p:nvSpPr>
        <p:spPr>
          <a:xfrm>
            <a:off x="5924550" y="3810000"/>
            <a:ext cx="4953000" cy="457200"/>
          </a:xfrm>
          <a:prstGeom prst="rect">
            <a:avLst/>
          </a:prstGeom>
          <a:solidFill>
            <a:srgbClr val="F1EEE5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D5C1ED-6A68-49A6-945B-98CE9F86CE21}"/>
              </a:ext>
            </a:extLst>
          </p:cNvPr>
          <p:cNvSpPr>
            <a:spLocks noGrp="1"/>
          </p:cNvSpPr>
          <p:nvPr/>
        </p:nvSpPr>
        <p:spPr>
          <a:xfrm>
            <a:off x="6057900" y="3914775"/>
            <a:ext cx="468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Position, order, and strategy limits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736F479-1AFD-44AC-9B97-449137E21F6D}"/>
              </a:ext>
            </a:extLst>
          </p:cNvPr>
          <p:cNvSpPr>
            <a:spLocks noGrp="1"/>
          </p:cNvSpPr>
          <p:nvPr/>
        </p:nvSpPr>
        <p:spPr>
          <a:xfrm>
            <a:off x="781050" y="4267200"/>
            <a:ext cx="2190750" cy="457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6962A1-DC41-4244-8C38-1DC224467879}"/>
              </a:ext>
            </a:extLst>
          </p:cNvPr>
          <p:cNvSpPr>
            <a:spLocks noGrp="1"/>
          </p:cNvSpPr>
          <p:nvPr/>
        </p:nvSpPr>
        <p:spPr>
          <a:xfrm>
            <a:off x="914400" y="4371975"/>
            <a:ext cx="1924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Broker credential safety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3C2647A-2D4C-4AAB-A11F-7E7979995E2D}"/>
              </a:ext>
            </a:extLst>
          </p:cNvPr>
          <p:cNvSpPr>
            <a:spLocks noGrp="1"/>
          </p:cNvSpPr>
          <p:nvPr/>
        </p:nvSpPr>
        <p:spPr>
          <a:xfrm>
            <a:off x="2971800" y="4267200"/>
            <a:ext cx="2952750" cy="457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210CFC2-24B7-4357-9B7E-67666CC784FE}"/>
              </a:ext>
            </a:extLst>
          </p:cNvPr>
          <p:cNvSpPr>
            <a:spLocks noGrp="1"/>
          </p:cNvSpPr>
          <p:nvPr/>
        </p:nvSpPr>
        <p:spPr>
          <a:xfrm>
            <a:off x="3105150" y="4371975"/>
            <a:ext cx="2686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Protects account access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A1C3AC-23D3-450D-B27C-481E593BB478}"/>
              </a:ext>
            </a:extLst>
          </p:cNvPr>
          <p:cNvSpPr>
            <a:spLocks noGrp="1"/>
          </p:cNvSpPr>
          <p:nvPr/>
        </p:nvSpPr>
        <p:spPr>
          <a:xfrm>
            <a:off x="5924550" y="4267200"/>
            <a:ext cx="4953000" cy="457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B340B2D-9086-401A-978D-AE1CE756A4C3}"/>
              </a:ext>
            </a:extLst>
          </p:cNvPr>
          <p:cNvSpPr>
            <a:spLocks noGrp="1"/>
          </p:cNvSpPr>
          <p:nvPr/>
        </p:nvSpPr>
        <p:spPr>
          <a:xfrm>
            <a:off x="6057900" y="4371975"/>
            <a:ext cx="468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Secure key storage and token-based auth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B652E08-CCB4-44B8-B487-5EB1D64B171A}"/>
              </a:ext>
            </a:extLst>
          </p:cNvPr>
          <p:cNvSpPr>
            <a:spLocks noGrp="1"/>
          </p:cNvSpPr>
          <p:nvPr/>
        </p:nvSpPr>
        <p:spPr>
          <a:xfrm>
            <a:off x="781050" y="4724400"/>
            <a:ext cx="2190750" cy="457200"/>
          </a:xfrm>
          <a:prstGeom prst="rect">
            <a:avLst/>
          </a:prstGeom>
          <a:solidFill>
            <a:srgbClr val="F1EEE5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B21E574-58DC-4E9E-8AA7-1BC832B8EA05}"/>
              </a:ext>
            </a:extLst>
          </p:cNvPr>
          <p:cNvSpPr>
            <a:spLocks noGrp="1"/>
          </p:cNvSpPr>
          <p:nvPr/>
        </p:nvSpPr>
        <p:spPr>
          <a:xfrm>
            <a:off x="914400" y="4829175"/>
            <a:ext cx="1924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Audit trail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AEF421B-4547-4603-9D52-095F4745DD2B}"/>
              </a:ext>
            </a:extLst>
          </p:cNvPr>
          <p:cNvSpPr>
            <a:spLocks noGrp="1"/>
          </p:cNvSpPr>
          <p:nvPr/>
        </p:nvSpPr>
        <p:spPr>
          <a:xfrm>
            <a:off x="2971800" y="4724400"/>
            <a:ext cx="2952750" cy="457200"/>
          </a:xfrm>
          <a:prstGeom prst="rect">
            <a:avLst/>
          </a:prstGeom>
          <a:solidFill>
            <a:srgbClr val="F1EEE5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DD111B-C239-4A77-AF8C-E522861C524B}"/>
              </a:ext>
            </a:extLst>
          </p:cNvPr>
          <p:cNvSpPr>
            <a:spLocks noGrp="1"/>
          </p:cNvSpPr>
          <p:nvPr/>
        </p:nvSpPr>
        <p:spPr>
          <a:xfrm>
            <a:off x="3105150" y="4829175"/>
            <a:ext cx="2686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Supports review and accountability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218016F-0232-487B-B432-13053B550995}"/>
              </a:ext>
            </a:extLst>
          </p:cNvPr>
          <p:cNvSpPr>
            <a:spLocks noGrp="1"/>
          </p:cNvSpPr>
          <p:nvPr/>
        </p:nvSpPr>
        <p:spPr>
          <a:xfrm>
            <a:off x="5924550" y="4724400"/>
            <a:ext cx="4953000" cy="457200"/>
          </a:xfrm>
          <a:prstGeom prst="rect">
            <a:avLst/>
          </a:prstGeom>
          <a:solidFill>
            <a:srgbClr val="F1EEE5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6E93CB6-8959-4ECD-BA68-6AC1D53F6432}"/>
              </a:ext>
            </a:extLst>
          </p:cNvPr>
          <p:cNvSpPr>
            <a:spLocks noGrp="1"/>
          </p:cNvSpPr>
          <p:nvPr/>
        </p:nvSpPr>
        <p:spPr>
          <a:xfrm>
            <a:off x="6057900" y="4829175"/>
            <a:ext cx="468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Reasoning logs, execution logs, user actions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27CFC27-7EF8-4C08-ACF6-29941CC014D6}"/>
              </a:ext>
            </a:extLst>
          </p:cNvPr>
          <p:cNvSpPr>
            <a:spLocks noGrp="1"/>
          </p:cNvSpPr>
          <p:nvPr/>
        </p:nvSpPr>
        <p:spPr>
          <a:xfrm>
            <a:off x="781050" y="5181600"/>
            <a:ext cx="2190750" cy="457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28B9D37-18C3-4B11-A444-BCBFC53C003B}"/>
              </a:ext>
            </a:extLst>
          </p:cNvPr>
          <p:cNvSpPr>
            <a:spLocks noGrp="1"/>
          </p:cNvSpPr>
          <p:nvPr/>
        </p:nvSpPr>
        <p:spPr>
          <a:xfrm>
            <a:off x="914400" y="5286375"/>
            <a:ext cx="1924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Real-time monitoring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539A9AB-4070-49C4-B425-1CAD30592313}"/>
              </a:ext>
            </a:extLst>
          </p:cNvPr>
          <p:cNvSpPr>
            <a:spLocks noGrp="1"/>
          </p:cNvSpPr>
          <p:nvPr/>
        </p:nvSpPr>
        <p:spPr>
          <a:xfrm>
            <a:off x="2971800" y="5181600"/>
            <a:ext cx="2952750" cy="457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36D6711-DE2F-4EC7-9AAD-86E30A92451D}"/>
              </a:ext>
            </a:extLst>
          </p:cNvPr>
          <p:cNvSpPr>
            <a:spLocks noGrp="1"/>
          </p:cNvSpPr>
          <p:nvPr/>
        </p:nvSpPr>
        <p:spPr>
          <a:xfrm>
            <a:off x="3105150" y="5286375"/>
            <a:ext cx="2686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Keeps operations visible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3A3D364-3B02-4282-9DFF-15417EF26CA0}"/>
              </a:ext>
            </a:extLst>
          </p:cNvPr>
          <p:cNvSpPr>
            <a:spLocks noGrp="1"/>
          </p:cNvSpPr>
          <p:nvPr/>
        </p:nvSpPr>
        <p:spPr>
          <a:xfrm>
            <a:off x="5924550" y="5181600"/>
            <a:ext cx="4953000" cy="457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6C46FF6-9D9B-458F-B2F3-78952817C519}"/>
              </a:ext>
            </a:extLst>
          </p:cNvPr>
          <p:cNvSpPr>
            <a:spLocks noGrp="1"/>
          </p:cNvSpPr>
          <p:nvPr/>
        </p:nvSpPr>
        <p:spPr>
          <a:xfrm>
            <a:off x="6057900" y="5286375"/>
            <a:ext cx="468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Status, P&amp;L, agent metrics, alerts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2A276BD-8755-4CC6-A624-7038C357FA66}"/>
              </a:ext>
            </a:extLst>
          </p:cNvPr>
          <p:cNvSpPr>
            <a:spLocks noGrp="1"/>
          </p:cNvSpPr>
          <p:nvPr/>
        </p:nvSpPr>
        <p:spPr>
          <a:xfrm>
            <a:off x="781050" y="5886450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FUNDING AGENCY DECISION LENS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2330086-FDA1-4AEE-B200-20B43CA64CC2}"/>
              </a:ext>
            </a:extLst>
          </p:cNvPr>
          <p:cNvSpPr>
            <a:spLocks noGrp="1"/>
          </p:cNvSpPr>
          <p:nvPr/>
        </p:nvSpPr>
        <p:spPr>
          <a:xfrm>
            <a:off x="781050" y="6096000"/>
            <a:ext cx="895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Pilot capital should be released only with agreed custody, drawdown, stop-loss, authorization, and reporting rules.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D032D0D-87BF-4153-AC67-6A6BFB32E6E5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8746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8746B"/>
                </a:solidFill>
                <a:latin typeface="Aptos"/>
                <a:ea typeface="Aptos"/>
                <a:cs typeface="Aptos"/>
              </a:rPr>
              <a:t>Source: TradingAgents proposal scope and repo asset assets/risk.png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8EC184E-FCA4-416F-994E-451FD42B22DB}"/>
              </a:ext>
            </a:extLst>
          </p:cNvPr>
          <p:cNvSpPr>
            <a:spLocks noGrp="1"/>
          </p:cNvSpPr>
          <p:nvPr/>
        </p:nvSpPr>
        <p:spPr>
          <a:xfrm>
            <a:off x="11144250" y="655320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8746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8746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34064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ED11FE38-59C1-4BF1-8840-B4857A0CF3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5-marker">
            <a:extLst>
              <a:ext uri="{FF2B5EF4-FFF2-40B4-BE49-F238E27FC236}">
                <a16:creationId xmlns:a16="http://schemas.microsoft.com/office/drawing/2014/main" id="{947A8E01-8EDE-445D-B37D-786749CDE46E}"/>
              </a:ext>
            </a:extLst>
          </p:cNvPr>
          <p:cNvSpPr>
            <a:spLocks noGrp="1"/>
          </p:cNvSpPr>
          <p:nvPr/>
        </p:nvSpPr>
        <p:spPr>
          <a:xfrm>
            <a:off x="609600" y="528638"/>
            <a:ext cx="209550" cy="28575"/>
          </a:xfrm>
          <a:prstGeom prst="rect">
            <a:avLst/>
          </a:prstGeom>
          <a:solidFill>
            <a:srgbClr val="0D6B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5-label">
            <a:extLst>
              <a:ext uri="{FF2B5EF4-FFF2-40B4-BE49-F238E27FC236}">
                <a16:creationId xmlns:a16="http://schemas.microsoft.com/office/drawing/2014/main" id="{9E1695D9-F531-45A2-90AA-26D493809FE2}"/>
              </a:ext>
            </a:extLst>
          </p:cNvPr>
          <p:cNvSpPr>
            <a:spLocks noGrp="1"/>
          </p:cNvSpPr>
          <p:nvPr/>
        </p:nvSpPr>
        <p:spPr>
          <a:xfrm>
            <a:off x="933450" y="45720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FUNDING PATH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29340B-155F-4DF4-946C-CE4C75C37AAB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8582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rPr>
              <a:t>The ask: launch a controlled pilot with transparent capital rules and reporting.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CF8949-B6F2-418B-87FF-8410348DA2D2}"/>
              </a:ext>
            </a:extLst>
          </p:cNvPr>
          <p:cNvSpPr>
            <a:spLocks noGrp="1"/>
          </p:cNvSpPr>
          <p:nvPr/>
        </p:nvSpPr>
        <p:spPr>
          <a:xfrm>
            <a:off x="628650" y="1885950"/>
            <a:ext cx="7810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A funding-agency pilot should prove governance, reporting, and operating discipline before any scaled capital deployment.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11D046-DD42-4AA9-917E-668763F37792}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2286000" cy="16383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A1BB1A-0E17-480B-B267-484F1BC1984A}"/>
              </a:ext>
            </a:extLst>
          </p:cNvPr>
          <p:cNvSpPr>
            <a:spLocks noGrp="1"/>
          </p:cNvSpPr>
          <p:nvPr/>
        </p:nvSpPr>
        <p:spPr>
          <a:xfrm>
            <a:off x="952500" y="3333750"/>
            <a:ext cx="361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D6B5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D6B5E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D942A3-2664-4D08-BFD2-08C2AC8F404E}"/>
              </a:ext>
            </a:extLst>
          </p:cNvPr>
          <p:cNvSpPr>
            <a:spLocks noGrp="1"/>
          </p:cNvSpPr>
          <p:nvPr/>
        </p:nvSpPr>
        <p:spPr>
          <a:xfrm>
            <a:off x="1371600" y="3371850"/>
            <a:ext cx="14097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Mandate design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708100-2E73-45A4-A357-4C347D6524FF}"/>
              </a:ext>
            </a:extLst>
          </p:cNvPr>
          <p:cNvSpPr>
            <a:spLocks noGrp="1"/>
          </p:cNvSpPr>
          <p:nvPr/>
        </p:nvSpPr>
        <p:spPr>
          <a:xfrm>
            <a:off x="952500" y="3848100"/>
            <a:ext cx="18859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Confirm funding amount, permitted assets, broker/custody model, withdrawal rules, and compliance obligations.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C6EA7F-2D23-47E0-A6F2-F512A8550CA8}"/>
              </a:ext>
            </a:extLst>
          </p:cNvPr>
          <p:cNvSpPr>
            <a:spLocks noGrp="1"/>
          </p:cNvSpPr>
          <p:nvPr/>
        </p:nvSpPr>
        <p:spPr>
          <a:xfrm>
            <a:off x="3162300" y="3943350"/>
            <a:ext cx="476250" cy="28575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3CD856-1968-4662-AAE6-B5E7A9D610B8}"/>
              </a:ext>
            </a:extLst>
          </p:cNvPr>
          <p:cNvSpPr>
            <a:spLocks noGrp="1"/>
          </p:cNvSpPr>
          <p:nvPr/>
        </p:nvSpPr>
        <p:spPr>
          <a:xfrm>
            <a:off x="3524250" y="3143250"/>
            <a:ext cx="2286000" cy="16383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1A5B9B-F902-410E-9B79-216465443170}"/>
              </a:ext>
            </a:extLst>
          </p:cNvPr>
          <p:cNvSpPr>
            <a:spLocks noGrp="1"/>
          </p:cNvSpPr>
          <p:nvPr/>
        </p:nvSpPr>
        <p:spPr>
          <a:xfrm>
            <a:off x="3714750" y="3333750"/>
            <a:ext cx="361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D6B5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D6B5E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1D3308-BBEA-4B62-820D-89F49D1EFE7E}"/>
              </a:ext>
            </a:extLst>
          </p:cNvPr>
          <p:cNvSpPr>
            <a:spLocks noGrp="1"/>
          </p:cNvSpPr>
          <p:nvPr/>
        </p:nvSpPr>
        <p:spPr>
          <a:xfrm>
            <a:off x="4133850" y="3371850"/>
            <a:ext cx="14097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Platform setup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02943E-FABA-484C-8AE0-6646AD6DF67F}"/>
              </a:ext>
            </a:extLst>
          </p:cNvPr>
          <p:cNvSpPr>
            <a:spLocks noGrp="1"/>
          </p:cNvSpPr>
          <p:nvPr/>
        </p:nvSpPr>
        <p:spPr>
          <a:xfrm>
            <a:off x="3714750" y="3848100"/>
            <a:ext cx="18859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Deploy dashboard, authentication, agent configuration, broker integration, and audit logging.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035CF8-E87E-4099-BB35-CBB5CED10A3E}"/>
              </a:ext>
            </a:extLst>
          </p:cNvPr>
          <p:cNvSpPr>
            <a:spLocks noGrp="1"/>
          </p:cNvSpPr>
          <p:nvPr/>
        </p:nvSpPr>
        <p:spPr>
          <a:xfrm>
            <a:off x="5924550" y="3943350"/>
            <a:ext cx="476250" cy="28575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6136D0-C790-4A2D-9D11-7D5121B00F66}"/>
              </a:ext>
            </a:extLst>
          </p:cNvPr>
          <p:cNvSpPr>
            <a:spLocks noGrp="1"/>
          </p:cNvSpPr>
          <p:nvPr/>
        </p:nvSpPr>
        <p:spPr>
          <a:xfrm>
            <a:off x="6286500" y="3143250"/>
            <a:ext cx="2286000" cy="16383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171E05-6AD2-4843-A98D-AEA649CDB3BD}"/>
              </a:ext>
            </a:extLst>
          </p:cNvPr>
          <p:cNvSpPr>
            <a:spLocks noGrp="1"/>
          </p:cNvSpPr>
          <p:nvPr/>
        </p:nvSpPr>
        <p:spPr>
          <a:xfrm>
            <a:off x="6477000" y="3333750"/>
            <a:ext cx="361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D6B5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D6B5E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03F1C3-13C4-46B3-9039-04A64021B807}"/>
              </a:ext>
            </a:extLst>
          </p:cNvPr>
          <p:cNvSpPr>
            <a:spLocks noGrp="1"/>
          </p:cNvSpPr>
          <p:nvPr/>
        </p:nvSpPr>
        <p:spPr>
          <a:xfrm>
            <a:off x="6896100" y="3371850"/>
            <a:ext cx="14097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Pilot trading window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E796FF-BE37-44D2-8FDC-4F20894F0566}"/>
              </a:ext>
            </a:extLst>
          </p:cNvPr>
          <p:cNvSpPr>
            <a:spLocks noGrp="1"/>
          </p:cNvSpPr>
          <p:nvPr/>
        </p:nvSpPr>
        <p:spPr>
          <a:xfrm>
            <a:off x="6477000" y="3848100"/>
            <a:ext cx="18859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Run under defined risk limits with weekly reporting and reviewable agent reasoning.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B7E95DF-8052-4071-A242-F7F7596FEE29}"/>
              </a:ext>
            </a:extLst>
          </p:cNvPr>
          <p:cNvSpPr>
            <a:spLocks noGrp="1"/>
          </p:cNvSpPr>
          <p:nvPr/>
        </p:nvSpPr>
        <p:spPr>
          <a:xfrm>
            <a:off x="8686800" y="3943350"/>
            <a:ext cx="476250" cy="28575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EA18A7-38BC-4DCE-BD2F-6CFFBEF76F34}"/>
              </a:ext>
            </a:extLst>
          </p:cNvPr>
          <p:cNvSpPr>
            <a:spLocks noGrp="1"/>
          </p:cNvSpPr>
          <p:nvPr/>
        </p:nvSpPr>
        <p:spPr>
          <a:xfrm>
            <a:off x="9048750" y="3143250"/>
            <a:ext cx="2286000" cy="1638300"/>
          </a:xfrm>
          <a:prstGeom prst="rect">
            <a:avLst/>
          </a:prstGeom>
          <a:solidFill>
            <a:srgbClr val="0D6B5E"/>
          </a:solidFill>
          <a:ln w="9525">
            <a:solidFill>
              <a:srgbClr val="0D6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91BA3E4-62F0-4145-A11B-1698B91A427E}"/>
              </a:ext>
            </a:extLst>
          </p:cNvPr>
          <p:cNvSpPr>
            <a:spLocks noGrp="1"/>
          </p:cNvSpPr>
          <p:nvPr/>
        </p:nvSpPr>
        <p:spPr>
          <a:xfrm>
            <a:off x="9239250" y="3333750"/>
            <a:ext cx="361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5E23F8-BC62-4321-BEAE-431BF4D62018}"/>
              </a:ext>
            </a:extLst>
          </p:cNvPr>
          <p:cNvSpPr>
            <a:spLocks noGrp="1"/>
          </p:cNvSpPr>
          <p:nvPr/>
        </p:nvSpPr>
        <p:spPr>
          <a:xfrm>
            <a:off x="9658350" y="3371850"/>
            <a:ext cx="14097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Agency decision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43F0CD-0AB4-415C-ABBD-58E3E0CC8F5D}"/>
              </a:ext>
            </a:extLst>
          </p:cNvPr>
          <p:cNvSpPr>
            <a:spLocks noGrp="1"/>
          </p:cNvSpPr>
          <p:nvPr/>
        </p:nvSpPr>
        <p:spPr>
          <a:xfrm>
            <a:off x="9239250" y="3848100"/>
            <a:ext cx="18859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9F5F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9F5F1"/>
                </a:solidFill>
                <a:latin typeface="Aptos"/>
                <a:ea typeface="Aptos"/>
                <a:cs typeface="Aptos"/>
              </a:rPr>
              <a:t>At target or review date: withdraw, retain profit in the U.S., reinvest, or stop.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79FF97-AE14-442E-9ABB-30152C8784E6}"/>
              </a:ext>
            </a:extLst>
          </p:cNvPr>
          <p:cNvSpPr>
            <a:spLocks noGrp="1"/>
          </p:cNvSpPr>
          <p:nvPr/>
        </p:nvSpPr>
        <p:spPr>
          <a:xfrm>
            <a:off x="762000" y="5219700"/>
            <a:ext cx="7239000" cy="7239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2E9BD1D-FD0C-4D37-9CC1-6781A3CEDCFE}"/>
              </a:ext>
            </a:extLst>
          </p:cNvPr>
          <p:cNvSpPr>
            <a:spLocks noGrp="1"/>
          </p:cNvSpPr>
          <p:nvPr/>
        </p:nvSpPr>
        <p:spPr>
          <a:xfrm>
            <a:off x="933450" y="5372100"/>
            <a:ext cx="6896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Recommended funding conversation: approve a pilot term sheet first, then finalize legal structure, custody, broker terms, eligible markets, reporting, and risk thresholds.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1EC55D7-651F-4739-B98E-9283C5ADFA20}"/>
              </a:ext>
            </a:extLst>
          </p:cNvPr>
          <p:cNvSpPr>
            <a:spLocks noGrp="1"/>
          </p:cNvSpPr>
          <p:nvPr/>
        </p:nvSpPr>
        <p:spPr>
          <a:xfrm>
            <a:off x="8572500" y="5219700"/>
            <a:ext cx="2381250" cy="876300"/>
          </a:xfrm>
          <a:prstGeom prst="rect">
            <a:avLst/>
          </a:prstGeom>
          <a:solidFill>
            <a:srgbClr val="1020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74387B8-2936-4761-8970-FC3F60E20DB9}"/>
              </a:ext>
            </a:extLst>
          </p:cNvPr>
          <p:cNvSpPr>
            <a:spLocks noGrp="1"/>
          </p:cNvSpPr>
          <p:nvPr/>
        </p:nvSpPr>
        <p:spPr>
          <a:xfrm>
            <a:off x="8801100" y="5381625"/>
            <a:ext cx="1924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B7D9C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D9CE"/>
                </a:solidFill>
                <a:latin typeface="Aptos"/>
                <a:ea typeface="Aptos"/>
                <a:cs typeface="Aptos"/>
              </a:rPr>
              <a:t>NEXT DECISION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D97C801-C549-4D6C-9639-15BD53DDD689}"/>
              </a:ext>
            </a:extLst>
          </p:cNvPr>
          <p:cNvSpPr>
            <a:spLocks noGrp="1"/>
          </p:cNvSpPr>
          <p:nvPr/>
        </p:nvSpPr>
        <p:spPr>
          <a:xfrm>
            <a:off x="8820150" y="5638800"/>
            <a:ext cx="1885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Pilot mandate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ABD234-89DB-434C-808D-A215DF85A72B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8746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8746B"/>
                </a:solidFill>
                <a:latin typeface="Aptos"/>
                <a:ea typeface="Aptos"/>
                <a:cs typeface="Aptos"/>
              </a:rPr>
              <a:t>Funding terms shown as discussion structure; final agreements and compliance review required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B1334C2-6CC0-4530-8F70-4522713708B1}"/>
              </a:ext>
            </a:extLst>
          </p:cNvPr>
          <p:cNvSpPr>
            <a:spLocks noGrp="1"/>
          </p:cNvSpPr>
          <p:nvPr/>
        </p:nvSpPr>
        <p:spPr>
          <a:xfrm>
            <a:off x="11144250" y="655320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8746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8746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6498927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720</Words>
  <Application>Microsoft Macintosh PowerPoint</Application>
  <DocSecurity>0</DocSecurity>
  <PresentationFormat>Widescreen</PresentationFormat>
  <Paragraphs>98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Ali, Elias</cp:lastModifiedBy>
  <cp:revision>1</cp:revision>
  <dcterms:created xsi:type="dcterms:W3CDTF">2026-05-22T08:06:31Z</dcterms:created>
  <dcterms:modified xsi:type="dcterms:W3CDTF">2026-05-22T08:18:58Z</dcterms:modified>
</cp:coreProperties>
</file>